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4472C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864608"/>
            <a:ext cx="9144000" cy="278892"/>
          </a:xfrm>
          <a:prstGeom prst="rect">
            <a:avLst/>
          </a:prstGeom>
          <a:solidFill>
            <a:srgbClr val="162055"/>
          </a:solidFill>
          <a:ln/>
        </p:spPr>
      </p:sp>
      <p:sp>
        <p:nvSpPr>
          <p:cNvPr id="4" name="Shape 2"/>
          <p:cNvSpPr/>
          <p:nvPr/>
        </p:nvSpPr>
        <p:spPr>
          <a:xfrm>
            <a:off x="-548640" y="-548640"/>
            <a:ext cx="2560320" cy="2560320"/>
          </a:xfrm>
          <a:prstGeom prst="ellipse">
            <a:avLst/>
          </a:prstGeom>
          <a:solidFill>
            <a:srgbClr val="4472C4">
              <a:alpha val="18000"/>
            </a:srgbClr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0" y="3108960"/>
            <a:ext cx="2926080" cy="2926080"/>
          </a:xfrm>
          <a:prstGeom prst="ellipse">
            <a:avLst/>
          </a:prstGeom>
          <a:solidFill>
            <a:srgbClr val="2D3A8C">
              <a:alpha val="40000"/>
            </a:srgbClr>
          </a:solidFill>
          <a:ln w="12700">
            <a:solidFill>
              <a:srgbClr val="2D3A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914400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CSLogbook</a:t>
            </a:r>
            <a:endParaRPr lang="en-US" sz="6600" dirty="0"/>
          </a:p>
        </p:txBody>
      </p:sp>
      <p:sp>
        <p:nvSpPr>
          <p:cNvPr id="7" name="Text 5"/>
          <p:cNvSpPr/>
          <p:nvPr/>
        </p:nvSpPr>
        <p:spPr>
          <a:xfrm>
            <a:off x="457200" y="22860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ระบบจัดการกิจกรรมนักศึกษา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57200" y="27432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ภาควิชาวิทยาการคอมพิวเตอร์และเทคโนโลยีสารสนเทศ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383280" y="3291840"/>
            <a:ext cx="2377440" cy="0"/>
          </a:xfrm>
          <a:prstGeom prst="line">
            <a:avLst/>
          </a:prstGeom>
          <a:noFill/>
          <a:ln w="2540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3429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89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ปีการศึกษา 2568  ·  คณะวิทยาศาสตร์ประยุกต์  ·  มจพ.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4864608"/>
            <a:ext cx="8229600" cy="2788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7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นำเสนอต่อคณะกรรมการ  — 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64592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ปัญหาและแรงจูงใจ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ก่อนมีระบบ CSLogbook — ภาควิชาเผชิญกับความท้าทายเหล่านี้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20040" y="850392"/>
            <a:ext cx="8503920" cy="0"/>
          </a:xfrm>
          <a:prstGeom prst="line">
            <a:avLst/>
          </a:prstGeom>
          <a:noFill/>
          <a:ln w="12700">
            <a:solidFill>
              <a:srgbClr val="CADCF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1463040"/>
            <a:ext cx="2743200" cy="3383280"/>
          </a:xfrm>
          <a:prstGeom prst="rect">
            <a:avLst/>
          </a:prstGeom>
          <a:solidFill>
            <a:srgbClr val="FEF3C7"/>
          </a:solidFill>
          <a:ln w="9525">
            <a:solidFill>
              <a:srgbClr val="FDE68A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20040" y="1600200"/>
            <a:ext cx="2743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📋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411480" y="233172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ติดตาม Logbook ยาก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29768" y="2880360"/>
            <a:ext cx="2523744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ไม่มีระบบกลาง นักศึกษาส่งงานผ่าน Email / กระดาษ ตรวจสอบย้อนหลังไม่ได้ อาจารย์ต้องจัดการเองทั้งหมด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46120" y="1463040"/>
            <a:ext cx="2743200" cy="3383280"/>
          </a:xfrm>
          <a:prstGeom prst="rect">
            <a:avLst/>
          </a:prstGeom>
          <a:solidFill>
            <a:srgbClr val="FEE2E2"/>
          </a:solidFill>
          <a:ln w="9525">
            <a:solidFill>
              <a:srgbClr val="FECACA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246120" y="1600200"/>
            <a:ext cx="2743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📄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3337560" y="233172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เอกสารกระจัดกระจาย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355848" y="2880360"/>
            <a:ext cx="2523744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หนังสือราชการทำแบบ manual ซ้ำซ้อน ใช้เวลานาน เกิดข้อผิดพลาดในการกรอกข้อมูลและการจัดส่ง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172200" y="1463040"/>
            <a:ext cx="2743200" cy="3383280"/>
          </a:xfrm>
          <a:prstGeom prst="rect">
            <a:avLst/>
          </a:prstGeom>
          <a:solidFill>
            <a:srgbClr val="E0E7FF"/>
          </a:solidFill>
          <a:ln w="9525">
            <a:solidFill>
              <a:srgbClr val="C7D2FE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172200" y="1600200"/>
            <a:ext cx="2743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🔔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6263640" y="233172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พลาด Deadline บ่อย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281928" y="2880360"/>
            <a:ext cx="2523744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ไม่มีการแจ้งเตือนอัตโนมัติ นักศึกษาและอาจารย์ต้องติดตามด้วยตัวเองตลอดเวลา ส่งงานไม่ทันกำหนด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64592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วัตถุประสงค์ &amp; Scope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" y="850392"/>
            <a:ext cx="8503920" cy="0"/>
          </a:xfrm>
          <a:prstGeom prst="line">
            <a:avLst/>
          </a:prstGeom>
          <a:noFill/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960120"/>
            <a:ext cx="4206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วัตถุประสงค์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20040" y="1389888"/>
            <a:ext cx="4251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พัฒนาระบบ digital จัดการโครงงาน (Project/Thesis) และฝึกงาน</a:t>
            </a:r>
            <a:endParaRPr lang="en-US" sz="120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ลดขั้นตอนเอกสาร ด้วยการสร้าง PDF หนังสือราชการอัตโนมัติ</a:t>
            </a:r>
            <a:endParaRPr lang="en-US" sz="120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เพิ่มประสิทธิภาพการติดตามความก้าวหน้า real-time</a:t>
            </a:r>
            <a:endParaRPr lang="en-US" sz="120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รองรับ workflow อนุมัติแบบหลายขั้นตอน (Multi-level approval)</a:t>
            </a:r>
            <a:endParaRPr lang="en-US" sz="120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ระบบแจ้งเตือน Email + Socket.io อัตโนมัติตาม deadline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800600" y="960120"/>
            <a:ext cx="4023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กลุ่มผู้ใช้งาน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800600" y="1389888"/>
            <a:ext cx="4023360" cy="1097280"/>
          </a:xfrm>
          <a:prstGeom prst="rect">
            <a:avLst/>
          </a:prstGeom>
          <a:solidFill>
            <a:srgbClr val="DBEAFE"/>
          </a:solidFill>
          <a:ln w="9525">
            <a:solidFill>
              <a:srgbClr val="93C5FD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937760" y="1481328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👨‍🎓 นักศึกษา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937760" y="1892808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ยื่นคำขอ, บันทึก Logbook, ดาวน์โหลดเอกสาร, ดูสถานะ workflow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800600" y="2624328"/>
            <a:ext cx="4023360" cy="1097280"/>
          </a:xfrm>
          <a:prstGeom prst="rect">
            <a:avLst/>
          </a:prstGeom>
          <a:solidFill>
            <a:srgbClr val="D1FAE5"/>
          </a:solidFill>
          <a:ln w="9525">
            <a:solidFill>
              <a:srgbClr val="6EE7B7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937760" y="2715768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👨‍🏫 อาจารย์ / ที่ปรึกษา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937760" y="3127248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อนุมัติ workflow, ดู queue งาน, ประเมิน, จัดการนัดพบ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800600" y="3858768"/>
            <a:ext cx="4023360" cy="1097280"/>
          </a:xfrm>
          <a:prstGeom prst="rect">
            <a:avLst/>
          </a:prstGeom>
          <a:solidFill>
            <a:srgbClr val="FEE2E2"/>
          </a:solidFill>
          <a:ln w="9525">
            <a:solidFill>
              <a:srgbClr val="FCA5A5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937760" y="3950208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🏢 Admin / เจ้าหน้าที่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937760" y="4361688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จัดการระบบ, ออกเลขเอกสาร, ดู reports, ตั้งค่าปีการศึกษา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64592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Overview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ภาพรวมระบบ — ทุกส่วนทำงานร่วมกันอย่างไร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20040" y="850392"/>
            <a:ext cx="8503920" cy="0"/>
          </a:xfrm>
          <a:prstGeom prst="line">
            <a:avLst/>
          </a:prstGeom>
          <a:noFill/>
          <a:ln w="12700">
            <a:solidFill>
              <a:srgbClr val="CADCF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1005840"/>
            <a:ext cx="365760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ผ่าน KMUTNB SSO (OAuth)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 เป็น Reverse Proxy (port 80)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↔ Backend: REST API + Socket.io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↔ MySQL ผ่าน Sequelize ORM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Deploy: Docker Compose บน VPS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CI/CD: GitHub Actions → SSH Deploy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349240" y="960120"/>
            <a:ext cx="2377440" cy="566928"/>
          </a:xfrm>
          <a:prstGeom prst="rect">
            <a:avLst/>
          </a:prstGeom>
          <a:solidFill>
            <a:srgbClr val="FEF9C3"/>
          </a:solidFill>
          <a:ln w="19050">
            <a:solidFill>
              <a:srgbClr val="F59E0B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349240" y="960120"/>
            <a:ext cx="2377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🔐  KMUTNB SSO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537960" y="1527048"/>
            <a:ext cx="0" cy="347472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0" y="1572768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5349240" y="1874520"/>
            <a:ext cx="2377440" cy="566928"/>
          </a:xfrm>
          <a:prstGeom prst="rect">
            <a:avLst/>
          </a:prstGeom>
          <a:solidFill>
            <a:srgbClr val="E0F2FE"/>
          </a:solidFill>
          <a:ln w="19050">
            <a:solidFill>
              <a:srgbClr val="0284C7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349240" y="1874520"/>
            <a:ext cx="2377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🔀  Nginx Proxy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0" y="2441448"/>
            <a:ext cx="3566160" cy="0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0" y="2441448"/>
            <a:ext cx="0" cy="384048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138160" y="2441448"/>
            <a:ext cx="0" cy="384048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86200" y="2825496"/>
            <a:ext cx="1371600" cy="621792"/>
          </a:xfrm>
          <a:prstGeom prst="rect">
            <a:avLst/>
          </a:prstGeom>
          <a:solidFill>
            <a:srgbClr val="D1FAE5"/>
          </a:solidFill>
          <a:ln w="19050">
            <a:solidFill>
              <a:srgbClr val="059669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886200" y="2825496"/>
            <a:ext cx="13716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⚛️  Frontend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16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7452360" y="2825496"/>
            <a:ext cx="1463040" cy="621792"/>
          </a:xfrm>
          <a:prstGeom prst="rect">
            <a:avLst/>
          </a:prstGeom>
          <a:solidFill>
            <a:srgbClr val="EDE9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7452360" y="2825496"/>
            <a:ext cx="14630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🚀  Backend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257800" y="3136392"/>
            <a:ext cx="2194560" cy="0"/>
          </a:xfrm>
          <a:prstGeom prst="line">
            <a:avLst/>
          </a:prstGeom>
          <a:noFill/>
          <a:ln w="15240">
            <a:solidFill>
              <a:srgbClr val="4472C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349240" y="2907792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/ Socket.io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8183880" y="3447288"/>
            <a:ext cx="0" cy="457200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452360" y="3904488"/>
            <a:ext cx="1463040" cy="621792"/>
          </a:xfrm>
          <a:prstGeom prst="rect">
            <a:avLst/>
          </a:prstGeom>
          <a:solidFill>
            <a:srgbClr val="FFEDD5"/>
          </a:solidFill>
          <a:ln w="19050">
            <a:solidFill>
              <a:srgbClr val="EA580C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7452360" y="3904488"/>
            <a:ext cx="14630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C2D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🗄️  MySQL 8.0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7C2D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Sequelize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749040" y="4617720"/>
            <a:ext cx="5257800" cy="347472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749040" y="4617720"/>
            <a:ext cx="5257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🐳  Docker Compose  ·  CI/CD: GitHub Actions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64592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Stack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" y="850392"/>
            <a:ext cx="8503920" cy="0"/>
          </a:xfrm>
          <a:prstGeom prst="line">
            <a:avLst/>
          </a:prstGeom>
          <a:noFill/>
          <a:ln w="12700">
            <a:solidFill>
              <a:srgbClr val="CADCF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987552"/>
            <a:ext cx="2057400" cy="1188720"/>
          </a:xfrm>
          <a:prstGeom prst="rect">
            <a:avLst/>
          </a:prstGeom>
          <a:solidFill>
            <a:srgbClr val="1E2761"/>
          </a:solidFill>
          <a:ln w="9525">
            <a:solidFill>
              <a:srgbClr val="1E2761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20040" y="1152144"/>
            <a:ext cx="2057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16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320040" y="1645920"/>
            <a:ext cx="2057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Framework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32888" y="987552"/>
            <a:ext cx="2057400" cy="1188720"/>
          </a:xfrm>
          <a:prstGeom prst="rect">
            <a:avLst/>
          </a:prstGeom>
          <a:solidFill>
            <a:srgbClr val="0EA5E9"/>
          </a:solidFill>
          <a:ln w="9525">
            <a:solidFill>
              <a:srgbClr val="0EA5E9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532888" y="1152144"/>
            <a:ext cx="2057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19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2532888" y="1645920"/>
            <a:ext cx="2057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Library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45736" y="987552"/>
            <a:ext cx="2057400" cy="1188720"/>
          </a:xfrm>
          <a:prstGeom prst="rect">
            <a:avLst/>
          </a:prstGeom>
          <a:solidFill>
            <a:srgbClr val="2563EB"/>
          </a:solidFill>
          <a:ln w="9525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45736" y="1152144"/>
            <a:ext cx="2057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TypeScript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745736" y="1645920"/>
            <a:ext cx="2057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Safety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958584" y="987552"/>
            <a:ext cx="2057400" cy="1188720"/>
          </a:xfrm>
          <a:prstGeom prst="rect">
            <a:avLst/>
          </a:prstGeom>
          <a:solidFill>
            <a:srgbClr val="EF4444"/>
          </a:solidFill>
          <a:ln w="9525">
            <a:solidFill>
              <a:srgbClr val="EF4444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958584" y="1152144"/>
            <a:ext cx="2057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TanStack Query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958584" y="1645920"/>
            <a:ext cx="2057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State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20040" y="2340864"/>
            <a:ext cx="2057400" cy="1188720"/>
          </a:xfrm>
          <a:prstGeom prst="rect">
            <a:avLst/>
          </a:prstGeom>
          <a:solidFill>
            <a:srgbClr val="16A34A"/>
          </a:solidFill>
          <a:ln w="9525">
            <a:solidFill>
              <a:srgbClr val="16A34A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320040" y="2505456"/>
            <a:ext cx="2057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/ Express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320040" y="2999232"/>
            <a:ext cx="2057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API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532888" y="2340864"/>
            <a:ext cx="2057400" cy="1188720"/>
          </a:xfrm>
          <a:prstGeom prst="rect">
            <a:avLst/>
          </a:prstGeom>
          <a:solidFill>
            <a:srgbClr val="52A9E0"/>
          </a:solidFill>
          <a:ln w="9525">
            <a:solidFill>
              <a:srgbClr val="52A9E0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2532888" y="2505456"/>
            <a:ext cx="2057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Sequelize 6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2532888" y="2999232"/>
            <a:ext cx="2057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ORM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745736" y="2340864"/>
            <a:ext cx="2057400" cy="1188720"/>
          </a:xfrm>
          <a:prstGeom prst="rect">
            <a:avLst/>
          </a:prstGeom>
          <a:solidFill>
            <a:srgbClr val="F59E0B"/>
          </a:solidFill>
          <a:ln w="9525">
            <a:solidFill>
              <a:srgbClr val="F59E0B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4745736" y="2505456"/>
            <a:ext cx="2057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8.0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4745736" y="2999232"/>
            <a:ext cx="2057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45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958584" y="2340864"/>
            <a:ext cx="2057400" cy="1188720"/>
          </a:xfrm>
          <a:prstGeom prst="rect">
            <a:avLst/>
          </a:prstGeom>
          <a:solidFill>
            <a:srgbClr val="111827"/>
          </a:solidFill>
          <a:ln w="9525">
            <a:solidFill>
              <a:srgbClr val="111827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58584" y="2505456"/>
            <a:ext cx="2057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Socket.io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6958584" y="2999232"/>
            <a:ext cx="2057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20040" y="3694176"/>
            <a:ext cx="2057400" cy="1188720"/>
          </a:xfrm>
          <a:prstGeom prst="rect">
            <a:avLst/>
          </a:prstGeom>
          <a:solidFill>
            <a:srgbClr val="0284C7"/>
          </a:solidFill>
          <a:ln w="9525">
            <a:solidFill>
              <a:srgbClr val="0284C7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320040" y="3858768"/>
            <a:ext cx="2057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320040" y="4352544"/>
            <a:ext cx="2057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Containerization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2532888" y="3694176"/>
            <a:ext cx="2057400" cy="1188720"/>
          </a:xfrm>
          <a:prstGeom prst="rect">
            <a:avLst/>
          </a:prstGeom>
          <a:solidFill>
            <a:srgbClr val="009639"/>
          </a:solidFill>
          <a:ln w="9525">
            <a:solidFill>
              <a:srgbClr val="009639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2532888" y="3858768"/>
            <a:ext cx="2057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2532888" y="4352544"/>
            <a:ext cx="2057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 Proxy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745736" y="3694176"/>
            <a:ext cx="2057400" cy="1188720"/>
          </a:xfrm>
          <a:prstGeom prst="rect">
            <a:avLst/>
          </a:prstGeom>
          <a:solidFill>
            <a:srgbClr val="374151"/>
          </a:solidFill>
          <a:ln w="9525">
            <a:solidFill>
              <a:srgbClr val="374151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4745736" y="3858768"/>
            <a:ext cx="2057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4745736" y="4352544"/>
            <a:ext cx="2057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958584" y="3694176"/>
            <a:ext cx="2057400" cy="1188720"/>
          </a:xfrm>
          <a:prstGeom prst="rect">
            <a:avLst/>
          </a:prstGeom>
          <a:solidFill>
            <a:srgbClr val="7C3AED"/>
          </a:solidFill>
          <a:ln w="9525">
            <a:solidFill>
              <a:srgbClr val="7C3AED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6958584" y="3858768"/>
            <a:ext cx="2057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KMUTNB SSO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6958584" y="4352544"/>
            <a:ext cx="2057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64592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Design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30+ Sequelize Models  ·  MySQL 8.0 UTF-8mb4  ·  Asia/Bangkok timezone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20040" y="850392"/>
            <a:ext cx="8503920" cy="0"/>
          </a:xfrm>
          <a:prstGeom prst="line">
            <a:avLst/>
          </a:prstGeom>
          <a:noFill/>
          <a:ln w="12700">
            <a:solidFill>
              <a:srgbClr val="CADCF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987552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Principles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20040" y="13716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snake_case columns (created_at, student_id)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timestamps: true (created_at / updated_at)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 constraints via Sequelize associations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93+ migration files ควบคุม schema version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In-memory SQLite สำหรับ automated tests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126480" y="1389888"/>
            <a:ext cx="802852" cy="0"/>
          </a:xfrm>
          <a:prstGeom prst="line">
            <a:avLst/>
          </a:prstGeom>
          <a:noFill/>
          <a:ln w="12700">
            <a:solidFill>
              <a:srgbClr val="C7D2F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46520" y="1389888"/>
            <a:ext cx="766898" cy="0"/>
          </a:xfrm>
          <a:prstGeom prst="line">
            <a:avLst/>
          </a:prstGeom>
          <a:noFill/>
          <a:ln w="12700">
            <a:solidFill>
              <a:srgbClr val="C7D2F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74920" y="2267712"/>
            <a:ext cx="788932" cy="0"/>
          </a:xfrm>
          <a:prstGeom prst="line">
            <a:avLst/>
          </a:prstGeom>
          <a:noFill/>
          <a:ln w="12700">
            <a:solidFill>
              <a:srgbClr val="C7D2F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532120" y="2267712"/>
            <a:ext cx="821384" cy="0"/>
          </a:xfrm>
          <a:prstGeom prst="line">
            <a:avLst/>
          </a:prstGeom>
          <a:noFill/>
          <a:ln w="12700">
            <a:solidFill>
              <a:srgbClr val="C7D2F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51960" y="3218688"/>
            <a:ext cx="636740" cy="0"/>
          </a:xfrm>
          <a:prstGeom prst="line">
            <a:avLst/>
          </a:prstGeom>
          <a:noFill/>
          <a:ln w="12700">
            <a:solidFill>
              <a:srgbClr val="C7D2F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17720" y="3218688"/>
            <a:ext cx="995353" cy="0"/>
          </a:xfrm>
          <a:prstGeom prst="line">
            <a:avLst/>
          </a:prstGeom>
          <a:noFill/>
          <a:ln w="12700">
            <a:solidFill>
              <a:srgbClr val="C7D2F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72200" y="3218688"/>
            <a:ext cx="1031450" cy="0"/>
          </a:xfrm>
          <a:prstGeom prst="line">
            <a:avLst/>
          </a:prstGeom>
          <a:noFill/>
          <a:ln w="12700">
            <a:solidFill>
              <a:srgbClr val="C7D2F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669280" y="987552"/>
            <a:ext cx="1463040" cy="40233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669280" y="987552"/>
            <a:ext cx="14630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663440" y="1874520"/>
            <a:ext cx="1463040" cy="402336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663440" y="1874520"/>
            <a:ext cx="14630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766560" y="1874520"/>
            <a:ext cx="1463040" cy="40233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766560" y="1874520"/>
            <a:ext cx="14630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749040" y="2834640"/>
            <a:ext cx="1463040" cy="402336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3749040" y="2834640"/>
            <a:ext cx="14630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669280" y="2834640"/>
            <a:ext cx="1463040" cy="402336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669280" y="2834640"/>
            <a:ext cx="14630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Internship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749040" y="3840480"/>
            <a:ext cx="1463040" cy="40233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3749040" y="3840480"/>
            <a:ext cx="14630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212080" y="3840480"/>
            <a:ext cx="1463040" cy="402336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212080" y="3840480"/>
            <a:ext cx="14630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766560" y="3840480"/>
            <a:ext cx="1463040" cy="402336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766560" y="3840480"/>
            <a:ext cx="14630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Deadline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64592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RBAC &amp; Security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Access Control — 3 Roles หลัก พร้อม Sub-permissions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20040" y="850392"/>
            <a:ext cx="8503920" cy="0"/>
          </a:xfrm>
          <a:prstGeom prst="line">
            <a:avLst/>
          </a:prstGeom>
          <a:noFill/>
          <a:ln w="12700">
            <a:solidFill>
              <a:srgbClr val="CADCF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987552"/>
            <a:ext cx="2743200" cy="3931920"/>
          </a:xfrm>
          <a:prstGeom prst="rect">
            <a:avLst/>
          </a:prstGeom>
          <a:solidFill>
            <a:srgbClr val="DBEAFE"/>
          </a:solidFill>
          <a:ln w="9525">
            <a:solidFill>
              <a:srgbClr val="3B82F6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987552"/>
            <a:ext cx="2743200" cy="53035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0040" y="987552"/>
            <a:ext cx="27432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👨‍🎓 Student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29768" y="1572768"/>
            <a:ext cx="2523744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ยื่นคำขอโครงงาน / ฝึกงาน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บันทึก Logbook &amp; Meeting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ดาวน์โหลด PDF เอกสาร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ดูสถานะ workflow ของตัวเอง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evidence files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46120" y="987552"/>
            <a:ext cx="2743200" cy="3931920"/>
          </a:xfrm>
          <a:prstGeom prst="rect">
            <a:avLst/>
          </a:prstGeom>
          <a:solidFill>
            <a:srgbClr val="D1FAE5"/>
          </a:solidFill>
          <a:ln w="9525">
            <a:solidFill>
              <a:srgbClr val="059669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46120" y="987552"/>
            <a:ext cx="2743200" cy="53035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46120" y="987552"/>
            <a:ext cx="27432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👨‍🏫 Teacher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355848" y="1572768"/>
            <a:ext cx="2523744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อนุมัติ / ปฏิเสธ workflow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ดู queue งานของตัวเอง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Sub-perm: teacher:type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Sub-perm: teacher:position:*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Sub-perm: topic_exam_access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172200" y="987552"/>
            <a:ext cx="2743200" cy="3931920"/>
          </a:xfrm>
          <a:prstGeom prst="rect">
            <a:avLst/>
          </a:prstGeom>
          <a:solidFill>
            <a:srgbClr val="FEE2E2"/>
          </a:solidFill>
          <a:ln w="9525">
            <a:solidFill>
              <a:srgbClr val="DC2626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172200" y="987552"/>
            <a:ext cx="2743200" cy="53035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72200" y="987552"/>
            <a:ext cx="27432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🏢 Admin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81928" y="1572768"/>
            <a:ext cx="2523744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จัดการ users &amp; roles ทุกคน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ออกเลขที่ อว. เอกสาร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ดู Reports &amp; Analytics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ตั้งค่าปีการศึกษา / Deadline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Bulk approve &amp; export XLSX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20040" y="4663440"/>
            <a:ext cx="8503920" cy="34747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0040" y="4663440"/>
            <a:ext cx="8503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 JWT Auth  ·  IDOR Fixes (6/6)  ·  Rate Limiter  ·  Joi + express-validator  ·  CORS Dynamic Origins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64592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Workflow — ฝึกงาน (Internship)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" y="850392"/>
            <a:ext cx="8503920" cy="0"/>
          </a:xfrm>
          <a:prstGeom prst="line">
            <a:avLst/>
          </a:prstGeom>
          <a:noFill/>
          <a:ln w="12700">
            <a:solidFill>
              <a:srgbClr val="CADCF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1828800"/>
            <a:ext cx="1371600" cy="1005840"/>
          </a:xfrm>
          <a:prstGeom prst="rect">
            <a:avLst/>
          </a:prstGeom>
          <a:solidFill>
            <a:srgbClr val="DBEAFE"/>
          </a:solidFill>
          <a:ln w="9525">
            <a:solidFill>
              <a:srgbClr val="3B82F6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20040" y="1828800"/>
            <a:ext cx="1371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ยื่นคำขอ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ฝึกงาน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822960" y="1572768"/>
            <a:ext cx="384048" cy="38404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57276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691640" y="2331720"/>
            <a:ext cx="393192" cy="0"/>
          </a:xfrm>
          <a:prstGeom prst="line">
            <a:avLst/>
          </a:prstGeom>
          <a:noFill/>
          <a:ln w="19050">
            <a:solidFill>
              <a:srgbClr val="4472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84832" y="1828800"/>
            <a:ext cx="1371600" cy="1005840"/>
          </a:xfrm>
          <a:prstGeom prst="rect">
            <a:avLst/>
          </a:prstGeom>
          <a:solidFill>
            <a:srgbClr val="EDE9FE"/>
          </a:solidFill>
          <a:ln w="9525">
            <a:solidFill>
              <a:srgbClr val="7C3AED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084832" y="1828800"/>
            <a:ext cx="1371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เจ้าหน้าที่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ตรวจสอบ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587752" y="1572768"/>
            <a:ext cx="384048" cy="38404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587752" y="157276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456432" y="2331720"/>
            <a:ext cx="393192" cy="0"/>
          </a:xfrm>
          <a:prstGeom prst="line">
            <a:avLst/>
          </a:prstGeom>
          <a:noFill/>
          <a:ln w="19050">
            <a:solidFill>
              <a:srgbClr val="4472C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49624" y="1828800"/>
            <a:ext cx="1371600" cy="1005840"/>
          </a:xfrm>
          <a:prstGeom prst="rect">
            <a:avLst/>
          </a:prstGeom>
          <a:solidFill>
            <a:srgbClr val="D1FAE5"/>
          </a:solidFill>
          <a:ln w="9525">
            <a:solidFill>
              <a:srgbClr val="059669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849624" y="1828800"/>
            <a:ext cx="1371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อนุมัติ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ออกเลข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352544" y="1572768"/>
            <a:ext cx="384048" cy="38404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52544" y="157276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221224" y="2331720"/>
            <a:ext cx="393192" cy="0"/>
          </a:xfrm>
          <a:prstGeom prst="line">
            <a:avLst/>
          </a:prstGeom>
          <a:noFill/>
          <a:ln w="19050">
            <a:solidFill>
              <a:srgbClr val="4472C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14416" y="1828800"/>
            <a:ext cx="1371600" cy="1005840"/>
          </a:xfrm>
          <a:prstGeom prst="rect">
            <a:avLst/>
          </a:prstGeom>
          <a:solidFill>
            <a:srgbClr val="FEF9C3"/>
          </a:solidFill>
          <a:ln w="9525">
            <a:solidFill>
              <a:srgbClr val="F59E0B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614416" y="1828800"/>
            <a:ext cx="1371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สร้าง PDF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หนังสือราชการ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117336" y="1572768"/>
            <a:ext cx="384048" cy="38404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117336" y="157276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986016" y="2331720"/>
            <a:ext cx="393192" cy="0"/>
          </a:xfrm>
          <a:prstGeom prst="line">
            <a:avLst/>
          </a:prstGeom>
          <a:noFill/>
          <a:ln w="19050">
            <a:solidFill>
              <a:srgbClr val="4472C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379208" y="1828800"/>
            <a:ext cx="1371600" cy="1005840"/>
          </a:xfrm>
          <a:prstGeom prst="rect">
            <a:avLst/>
          </a:prstGeom>
          <a:solidFill>
            <a:srgbClr val="FFE4E6"/>
          </a:solidFill>
          <a:ln w="9525">
            <a:solidFill>
              <a:srgbClr val="F43F5E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7379208" y="1828800"/>
            <a:ext cx="1371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นักศึกษา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รับเอกสาร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882128" y="1572768"/>
            <a:ext cx="384048" cy="38404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882128" y="157276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20040" y="3200400"/>
            <a:ext cx="2743200" cy="1737360"/>
          </a:xfrm>
          <a:prstGeom prst="rect">
            <a:avLst/>
          </a:prstGeom>
          <a:solidFill>
            <a:srgbClr val="F8FA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429768" y="3310128"/>
            <a:ext cx="252374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📄 หนังสือขอความอนุเคราะห์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29768" y="3767328"/>
            <a:ext cx="2523744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ส่งถึงสถานประกอบการ พร้อมเลขที่ อว.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246120" y="3200400"/>
            <a:ext cx="2743200" cy="1737360"/>
          </a:xfrm>
          <a:prstGeom prst="rect">
            <a:avLst/>
          </a:prstGeom>
          <a:solidFill>
            <a:srgbClr val="F8FA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3355848" y="3310128"/>
            <a:ext cx="252374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📄 หนังสือส่งตัว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3355848" y="3767328"/>
            <a:ext cx="2523744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ยืนยันการฝึกงาน ลงนามโดยหัวหน้าภาค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172200" y="3200400"/>
            <a:ext cx="2743200" cy="1737360"/>
          </a:xfrm>
          <a:prstGeom prst="rect">
            <a:avLst/>
          </a:prstGeom>
          <a:solidFill>
            <a:srgbClr val="F8FA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6281928" y="3310128"/>
            <a:ext cx="252374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🏆 ใบรับรอง (Certificate)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281928" y="3767328"/>
            <a:ext cx="2523744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ออกหลังจบฝึกงาน พร้อมคะแนนรวม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64592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Workflow — โครงงาน (Project / Thesis)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" y="850392"/>
            <a:ext cx="8503920" cy="0"/>
          </a:xfrm>
          <a:prstGeom prst="line">
            <a:avLst/>
          </a:prstGeom>
          <a:noFill/>
          <a:ln w="12700">
            <a:solidFill>
              <a:srgbClr val="CADCF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987552"/>
            <a:ext cx="1005840" cy="162763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 rot="16200000">
            <a:off x="320040" y="987552"/>
            <a:ext cx="1005840" cy="1627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1463040" y="1097280"/>
            <a:ext cx="1691640" cy="1371600"/>
          </a:xfrm>
          <a:prstGeom prst="rect">
            <a:avLst/>
          </a:prstGeom>
          <a:solidFill>
            <a:srgbClr val="EEF2FF"/>
          </a:solidFill>
          <a:ln w="9525">
            <a:solidFill>
              <a:srgbClr val="4472C4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463040" y="1097280"/>
            <a:ext cx="1691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ลงทะเบียน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โครงงาน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154680" y="1783080"/>
            <a:ext cx="228600" cy="0"/>
          </a:xfrm>
          <a:prstGeom prst="line">
            <a:avLst/>
          </a:prstGeom>
          <a:noFill/>
          <a:ln w="19050">
            <a:solidFill>
              <a:srgbClr val="4472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83280" y="1097280"/>
            <a:ext cx="1691640" cy="1371600"/>
          </a:xfrm>
          <a:prstGeom prst="rect">
            <a:avLst/>
          </a:prstGeom>
          <a:solidFill>
            <a:srgbClr val="EEF2FF"/>
          </a:solidFill>
          <a:ln w="9525">
            <a:solidFill>
              <a:srgbClr val="4472C4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383280" y="1097280"/>
            <a:ext cx="1691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สอบหัวข้อ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(Topic Exam)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74920" y="1783080"/>
            <a:ext cx="228600" cy="0"/>
          </a:xfrm>
          <a:prstGeom prst="line">
            <a:avLst/>
          </a:prstGeom>
          <a:noFill/>
          <a:ln w="19050">
            <a:solidFill>
              <a:srgbClr val="4472C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03520" y="1097280"/>
            <a:ext cx="1691640" cy="1371600"/>
          </a:xfrm>
          <a:prstGeom prst="rect">
            <a:avLst/>
          </a:prstGeom>
          <a:solidFill>
            <a:srgbClr val="EEF2FF"/>
          </a:solidFill>
          <a:ln w="9525">
            <a:solidFill>
              <a:srgbClr val="4472C4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303520" y="1097280"/>
            <a:ext cx="1691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กรรมการ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อนุมัติ KP02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995160" y="1783080"/>
            <a:ext cx="228600" cy="0"/>
          </a:xfrm>
          <a:prstGeom prst="line">
            <a:avLst/>
          </a:prstGeom>
          <a:noFill/>
          <a:ln w="19050">
            <a:solidFill>
              <a:srgbClr val="4472C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223760" y="1097280"/>
            <a:ext cx="1691640" cy="1371600"/>
          </a:xfrm>
          <a:prstGeom prst="rect">
            <a:avLst/>
          </a:prstGeom>
          <a:solidFill>
            <a:srgbClr val="EEF2FF"/>
          </a:solidFill>
          <a:ln w="9525">
            <a:solidFill>
              <a:srgbClr val="4472C4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223760" y="1097280"/>
            <a:ext cx="1691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เริ่มพัฒนา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โครงงาน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20040" y="2816352"/>
            <a:ext cx="1005840" cy="201168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 rot="16200000">
            <a:off x="320040" y="2816352"/>
            <a:ext cx="10058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1463040" y="2926080"/>
            <a:ext cx="1691640" cy="1554480"/>
          </a:xfrm>
          <a:prstGeom prst="rect">
            <a:avLst/>
          </a:prstGeom>
          <a:solidFill>
            <a:srgbClr val="DBEAFE"/>
          </a:solidFill>
          <a:ln w="9525">
            <a:solidFill>
              <a:srgbClr val="3B82F6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1463040" y="2926080"/>
            <a:ext cx="16916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บันทึก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การพบอาจารย์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154680" y="3703320"/>
            <a:ext cx="228600" cy="0"/>
          </a:xfrm>
          <a:prstGeom prst="line">
            <a:avLst/>
          </a:prstGeom>
          <a:noFill/>
          <a:ln w="19050">
            <a:solidFill>
              <a:srgbClr val="3B82F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83280" y="2926080"/>
            <a:ext cx="1691640" cy="1554480"/>
          </a:xfrm>
          <a:prstGeom prst="rect">
            <a:avLst/>
          </a:prstGeom>
          <a:solidFill>
            <a:srgbClr val="DBEAFE"/>
          </a:solidFill>
          <a:ln w="9525">
            <a:solidFill>
              <a:srgbClr val="3B82F6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383280" y="2926080"/>
            <a:ext cx="16916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บันทึก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074920" y="3703320"/>
            <a:ext cx="228600" cy="0"/>
          </a:xfrm>
          <a:prstGeom prst="line">
            <a:avLst/>
          </a:prstGeom>
          <a:noFill/>
          <a:ln w="19050">
            <a:solidFill>
              <a:srgbClr val="3B82F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303520" y="2926080"/>
            <a:ext cx="1691640" cy="1554480"/>
          </a:xfrm>
          <a:prstGeom prst="rect">
            <a:avLst/>
          </a:prstGeom>
          <a:solidFill>
            <a:srgbClr val="DBEAFE"/>
          </a:solidFill>
          <a:ln w="9525">
            <a:solidFill>
              <a:srgbClr val="3B82F6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303520" y="2926080"/>
            <a:ext cx="16916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ยื่นขอ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สอบ Thesis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995160" y="3703320"/>
            <a:ext cx="228600" cy="0"/>
          </a:xfrm>
          <a:prstGeom prst="line">
            <a:avLst/>
          </a:prstGeom>
          <a:noFill/>
          <a:ln w="19050">
            <a:solidFill>
              <a:srgbClr val="3B82F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223760" y="2926080"/>
            <a:ext cx="1691640" cy="1554480"/>
          </a:xfrm>
          <a:prstGeom prst="rect">
            <a:avLst/>
          </a:prstGeom>
          <a:solidFill>
            <a:srgbClr val="DBEAFE"/>
          </a:solidFill>
          <a:ln w="9525">
            <a:solidFill>
              <a:srgbClr val="3B82F6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7223760" y="2926080"/>
            <a:ext cx="16916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รับ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ปริญญานิพนธ์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64592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Features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ฟีเจอร์หลักที่ออกแบบเพื่อทุก role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20040" y="850392"/>
            <a:ext cx="8503920" cy="0"/>
          </a:xfrm>
          <a:prstGeom prst="line">
            <a:avLst/>
          </a:prstGeom>
          <a:noFill/>
          <a:ln w="12700">
            <a:solidFill>
              <a:srgbClr val="CADCF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987552"/>
            <a:ext cx="2788920" cy="1847088"/>
          </a:xfrm>
          <a:prstGeom prst="rect">
            <a:avLst/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29768" y="1078992"/>
            <a:ext cx="257860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📚  Logbook &amp; Meeting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29768" y="1536192"/>
            <a:ext cx="2578608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นักศึกษาบันทึกการพบอาจารย์พร้อม timestamp, date validation, และ teacher approval queue แบบ real-time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64408" y="987552"/>
            <a:ext cx="2788920" cy="1847088"/>
          </a:xfrm>
          <a:prstGeom prst="rect">
            <a:avLst/>
          </a:prstGeom>
          <a:solidFill>
            <a:srgbClr val="F0FDF4"/>
          </a:solidFill>
          <a:ln w="9525">
            <a:solidFill>
              <a:srgbClr val="86EFAC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374136" y="1078992"/>
            <a:ext cx="257860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 Document Pipeline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374136" y="1536192"/>
            <a:ext cx="2578608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สร้าง PDF หนังสือราชการ 3 ประเภทอัตโนมัติ (ขอความอนุเคราะห์, ส่งตัว, ใบรับรอง) ด้วย TH Sarabun New + ตราครุฑ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208776" y="987552"/>
            <a:ext cx="2788920" cy="1847088"/>
          </a:xfrm>
          <a:prstGeom prst="rect">
            <a:avLst/>
          </a:prstGeom>
          <a:solidFill>
            <a:srgbClr val="FEF9C3"/>
          </a:solidFill>
          <a:ln w="9525">
            <a:solidFill>
              <a:srgbClr val="FDE68A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318504" y="1078992"/>
            <a:ext cx="257860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🔔  Notification &amp; Agents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318504" y="1536192"/>
            <a:ext cx="2578608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แจ้งเตือน Email (Gmail REST API) + Socket.io real-time ทุก workflow event, พร้อม cron agents ตรวจ deadline อัตโนมัติ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20040" y="2953512"/>
            <a:ext cx="2788920" cy="1847088"/>
          </a:xfrm>
          <a:prstGeom prst="rect">
            <a:avLst/>
          </a:prstGeom>
          <a:solidFill>
            <a:srgbClr val="FFF1F2"/>
          </a:solidFill>
          <a:ln w="9525">
            <a:solidFill>
              <a:srgbClr val="FECDD3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29768" y="3044952"/>
            <a:ext cx="257860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Reports &amp; Admin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29768" y="3502152"/>
            <a:ext cx="2578608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สถิติ, Document Pipeline report, CSV/XLSX export, Teacher queue summary, Student progress timeline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264408" y="2953512"/>
            <a:ext cx="2788920" cy="1847088"/>
          </a:xfrm>
          <a:prstGeom prst="rect">
            <a:avLst/>
          </a:prstGeom>
          <a:solidFill>
            <a:srgbClr val="F5F3FF"/>
          </a:solidFill>
          <a:ln w="9525">
            <a:solidFill>
              <a:srgbClr val="DDD6FE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3374136" y="3044952"/>
            <a:ext cx="257860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 Security &amp; Auth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374136" y="3502152"/>
            <a:ext cx="2578608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KMUTNB SSO login, JWT token refresh, RBAC middleware, IDOR prevention (6 fixes), Rate limiting, Joi validation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208776" y="2953512"/>
            <a:ext cx="2788920" cy="1847088"/>
          </a:xfrm>
          <a:prstGeom prst="rect">
            <a:avLst/>
          </a:prstGeom>
          <a:solidFill>
            <a:srgbClr val="ECFDF5"/>
          </a:solidFill>
          <a:ln w="9525">
            <a:solidFill>
              <a:srgbClr val="A7F3D0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318504" y="3044952"/>
            <a:ext cx="257860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  Academic Settings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318504" y="3502152"/>
            <a:ext cx="2578608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ตั้งค่าปีการศึกษา, กำหนด deadline แบบ dynamic, DeadlineTimeline component แสดงตามเดือน, ThaiDate input (พ.ศ.)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64592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&amp; Notification System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" y="850392"/>
            <a:ext cx="8503920" cy="0"/>
          </a:xfrm>
          <a:prstGeom prst="line">
            <a:avLst/>
          </a:prstGeom>
          <a:noFill/>
          <a:ln w="12700">
            <a:solidFill>
              <a:srgbClr val="CADCF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1005840"/>
            <a:ext cx="2788920" cy="3931920"/>
          </a:xfrm>
          <a:prstGeom prst="rect">
            <a:avLst/>
          </a:prstGeom>
          <a:solidFill>
            <a:srgbClr val="1A1A2E"/>
          </a:solidFill>
          <a:ln w="9525">
            <a:solidFill>
              <a:srgbClr val="1A1A2E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29768" y="1115568"/>
            <a:ext cx="257860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 Socket.io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29768" y="1591056"/>
            <a:ext cx="2578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Events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" y="1920240"/>
            <a:ext cx="2578608" cy="0"/>
          </a:xfrm>
          <a:prstGeom prst="line">
            <a:avLst/>
          </a:prstGeom>
          <a:noFill/>
          <a:ln w="9525">
            <a:solidFill>
              <a:srgbClr val="CADCF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29768" y="2011680"/>
            <a:ext cx="2578608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Rooms: user_{userId}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Events: workflow update, approval, deadline reminder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Frontend: useEffect + socket listener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Auto-reconnect บน disconnect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264408" y="1005840"/>
            <a:ext cx="2788920" cy="3931920"/>
          </a:xfrm>
          <a:prstGeom prst="rect">
            <a:avLst/>
          </a:prstGeom>
          <a:solidFill>
            <a:srgbClr val="D1FAE5"/>
          </a:solidFill>
          <a:ln w="9525">
            <a:solidFill>
              <a:srgbClr val="D1FAE5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374136" y="1115568"/>
            <a:ext cx="257860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📧  Email Notifications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374136" y="1591056"/>
            <a:ext cx="2578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Gmail REST API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374136" y="1920240"/>
            <a:ext cx="2578608" cy="0"/>
          </a:xfrm>
          <a:prstGeom prst="line">
            <a:avLst/>
          </a:prstGeom>
          <a:noFill/>
          <a:ln w="9525">
            <a:solidFill>
              <a:srgbClr val="05966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74136" y="2011680"/>
            <a:ext cx="2578608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Gmail REST API (migration จาก nodemailer)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HTML template + retry logic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Fire-and-forget (ไม่ block main flow)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Trigger: ทุก workflow state change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208776" y="1005840"/>
            <a:ext cx="2788920" cy="3931920"/>
          </a:xfrm>
          <a:prstGeom prst="rect">
            <a:avLst/>
          </a:prstGeom>
          <a:solidFill>
            <a:srgbClr val="EDE9FE"/>
          </a:solidFill>
          <a:ln w="9525">
            <a:solidFill>
              <a:srgbClr val="EDE9FE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318504" y="1115568"/>
            <a:ext cx="257860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  Background Agents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318504" y="1591056"/>
            <a:ext cx="2578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Node-cron / Node-schedule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318504" y="1920240"/>
            <a:ext cx="2578608" cy="0"/>
          </a:xfrm>
          <a:prstGeom prst="line">
            <a:avLst/>
          </a:prstGeom>
          <a:noFill/>
          <a:ln w="9525">
            <a:solidFill>
              <a:srgbClr val="7C3AE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18504" y="2011680"/>
            <a:ext cx="2578608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deadlineStatusUpdater — อัปเดต overdue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projectDeadlineMonitor — แจ้งเตือนล่วงหน้า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deadlineReminderAgent — reminder email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ตาม active academic year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64592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System — หนังสือราชการอัตโนมัติ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ใช้ pdfkit + TH Sarabun New + ตราครุฑ — layout ราชการตรงตาม template ต้นฉบับ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20040" y="850392"/>
            <a:ext cx="8503920" cy="0"/>
          </a:xfrm>
          <a:prstGeom prst="line">
            <a:avLst/>
          </a:prstGeom>
          <a:noFill/>
          <a:ln w="12700">
            <a:solidFill>
              <a:srgbClr val="CADCF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1005840"/>
            <a:ext cx="2788920" cy="3931920"/>
          </a:xfrm>
          <a:prstGeom prst="rect">
            <a:avLst/>
          </a:prstGeom>
          <a:solidFill>
            <a:srgbClr val="EEF2FF"/>
          </a:solidFill>
          <a:ln w="9525">
            <a:solidFill>
              <a:srgbClr val="6366F1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005840"/>
            <a:ext cx="2788920" cy="54864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0040" y="1005840"/>
            <a:ext cx="2788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📄  หนังสือขอความอนุเคราะห์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29768" y="1627632"/>
            <a:ext cx="2578608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ส่งถึงสถานประกอบการ เพื่อขอรับนักศึกษาฝึกงาน</a:t>
            </a:r>
            <a:endParaRPr lang="en-US" sz="10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Header: ที่อยู่ภาควิชา + เลขที่ อว. (กรอกโดยเจ้าหน้าที่)</a:t>
            </a:r>
            <a:endParaRPr lang="en-US" sz="10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เรื่อง / เรียน bold — รูปแบบราชการครบถ้วน</a:t>
            </a:r>
            <a:endParaRPr lang="en-US" sz="10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Footer: ข้อมูลติดต่อ + เบอร์โทร 4601</a:t>
            </a:r>
            <a:endParaRPr lang="en-US" sz="10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ตราครุฑ absolute positioning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264408" y="1005840"/>
            <a:ext cx="2788920" cy="3931920"/>
          </a:xfrm>
          <a:prstGeom prst="rect">
            <a:avLst/>
          </a:prstGeom>
          <a:solidFill>
            <a:srgbClr val="F0FDF4"/>
          </a:solidFill>
          <a:ln w="9525">
            <a:solidFill>
              <a:srgbClr val="059669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64408" y="1005840"/>
            <a:ext cx="2788920" cy="54864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64408" y="1005840"/>
            <a:ext cx="2788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📄  หนังสือส่งตัว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374136" y="1627632"/>
            <a:ext cx="2578608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ยืนยันการส่งนักศึกษาไปฝึกงานอย่างเป็นทางการ</a:t>
            </a:r>
            <a:endParaRPr lang="en-US" sz="10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Checklist 3 ข้อ + หมายเหตุ</a:t>
            </a:r>
            <a:endParaRPr lang="en-US" sz="10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ลงนามโดยหัวหน้าภาควิชา (จาก departmentInfo.js)</a:t>
            </a:r>
            <a:endParaRPr lang="en-US" sz="10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คณะ + มหาวิทยาลัย แสดงใต้ลายเซ็น</a:t>
            </a:r>
            <a:endParaRPr lang="en-US" sz="10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Content-Disposition header → download filename ถูกต้อง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08776" y="1005840"/>
            <a:ext cx="2788920" cy="3931920"/>
          </a:xfrm>
          <a:prstGeom prst="rect">
            <a:avLst/>
          </a:prstGeom>
          <a:solidFill>
            <a:srgbClr val="FEF9C3"/>
          </a:solidFill>
          <a:ln w="9525">
            <a:solidFill>
              <a:srgbClr val="F59E0B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208776" y="1005840"/>
            <a:ext cx="2788920" cy="5486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08776" y="1005840"/>
            <a:ext cx="2788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📄  ใบรับรองการฝึกงาน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318504" y="1627632"/>
            <a:ext cx="2578608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ออกหลังจบฝึกงานครบ 250+ ชั่วโมง</a:t>
            </a:r>
            <a:endParaRPr lang="en-US" sz="10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แสดงคะแนนรวม / FULL_SCORE (100)</a:t>
            </a:r>
            <a:endParaRPr lang="en-US" sz="10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เกณฑ์ผ่าน: PASS_SCORE แยกแสดง</a:t>
            </a:r>
            <a:endParaRPr lang="en-US" sz="10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Loma font สำหรับ Thai rendering</a:t>
            </a:r>
            <a:endParaRPr lang="en-US" sz="10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IDOR-protected — ดูได้เฉพาะเจ้าของ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64592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Strategy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ครอบคลุม E2E · Backend Integration · Security Route Access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20040" y="850392"/>
            <a:ext cx="8503920" cy="0"/>
          </a:xfrm>
          <a:prstGeom prst="line">
            <a:avLst/>
          </a:prstGeom>
          <a:noFill/>
          <a:ln w="12700">
            <a:solidFill>
              <a:srgbClr val="CADCF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1005840"/>
            <a:ext cx="2788920" cy="3931920"/>
          </a:xfrm>
          <a:prstGeom prst="rect">
            <a:avLst/>
          </a:prstGeom>
          <a:solidFill>
            <a:srgbClr val="EEF2FF"/>
          </a:solidFill>
          <a:ln w="9525">
            <a:solidFill>
              <a:srgbClr val="6366F1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005840"/>
            <a:ext cx="2788920" cy="53035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0040" y="1005840"/>
            <a:ext cx="27889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E2E Tests (Playwright)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29768" y="1600200"/>
            <a:ext cx="2578608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Multi-role auth (Student / Teacher / Admin)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settings &amp; Teacher advisor flows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Meeting-logbook, KP02-defense, Thesis flow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route-access (40 tests)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Internship workflow B1-B5 (66 tests)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7-step seed pipeline สำหรับ test data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264408" y="1005840"/>
            <a:ext cx="2788920" cy="3931920"/>
          </a:xfrm>
          <a:prstGeom prst="rect">
            <a:avLst/>
          </a:prstGeom>
          <a:solidFill>
            <a:srgbClr val="D1FAE5"/>
          </a:solidFill>
          <a:ln w="9525">
            <a:solidFill>
              <a:srgbClr val="059669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64408" y="1005840"/>
            <a:ext cx="2788920" cy="53035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64408" y="1005840"/>
            <a:ext cx="27889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Integration Tests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374136" y="1600200"/>
            <a:ext cx="2578608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in-memory database (ไม่ต้องรัน MySQL)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 → Service → Model ครบ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Rejection flow 25 automated tests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generation + IDOR prevention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&amp; notification service mocks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auth + RBAC middleware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08776" y="1005840"/>
            <a:ext cx="2788920" cy="3931920"/>
          </a:xfrm>
          <a:prstGeom prst="rect">
            <a:avLst/>
          </a:prstGeom>
          <a:solidFill>
            <a:srgbClr val="FEE2E2"/>
          </a:solidFill>
          <a:ln w="9525">
            <a:solidFill>
              <a:srgbClr val="DC2626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208776" y="1005840"/>
            <a:ext cx="2788920" cy="53035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08776" y="1005840"/>
            <a:ext cx="27889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Audit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318504" y="1600200"/>
            <a:ext cx="2578608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IDOR vulnerabilities: พบ 6 จุด แก้ครบ 6/6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Route-access matrix: ตรวจ 40 routes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RBAC policy audit (167→24 wildcard rules)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token claims verification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security — ownership check ทุก endpoint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limiter &amp; CORS validation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64592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ผลลัพธ์จากการทดสอบระบบ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" y="850392"/>
            <a:ext cx="8503920" cy="0"/>
          </a:xfrm>
          <a:prstGeom prst="line">
            <a:avLst/>
          </a:prstGeom>
          <a:noFill/>
          <a:ln w="12700">
            <a:solidFill>
              <a:srgbClr val="CADCF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987552"/>
            <a:ext cx="2057400" cy="1719072"/>
          </a:xfrm>
          <a:prstGeom prst="rect">
            <a:avLst/>
          </a:prstGeom>
          <a:solidFill>
            <a:srgbClr val="EEF2FF"/>
          </a:solidFill>
          <a:ln w="9525">
            <a:solidFill>
              <a:srgbClr val="EEF2FF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20040" y="1078992"/>
            <a:ext cx="205740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4338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160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320040" y="1920240"/>
            <a:ext cx="2057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E2E Tests Passed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20040" y="2304288"/>
            <a:ext cx="2057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Playwright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532888" y="987552"/>
            <a:ext cx="2057400" cy="1719072"/>
          </a:xfrm>
          <a:prstGeom prst="rect">
            <a:avLst/>
          </a:prstGeom>
          <a:solidFill>
            <a:srgbClr val="F0FDF4"/>
          </a:solidFill>
          <a:ln w="9525">
            <a:solidFill>
              <a:srgbClr val="F0FDF4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532888" y="1078992"/>
            <a:ext cx="205740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172</a:t>
            </a:r>
            <a:endParaRPr lang="en-US" sz="4600" dirty="0"/>
          </a:p>
        </p:txBody>
      </p:sp>
      <p:sp>
        <p:nvSpPr>
          <p:cNvPr id="11" name="Text 9"/>
          <p:cNvSpPr/>
          <p:nvPr/>
        </p:nvSpPr>
        <p:spPr>
          <a:xfrm>
            <a:off x="2532888" y="1920240"/>
            <a:ext cx="2057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Skipped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532888" y="2304288"/>
            <a:ext cx="2057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gating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745736" y="987552"/>
            <a:ext cx="2057400" cy="1719072"/>
          </a:xfrm>
          <a:prstGeom prst="rect">
            <a:avLst/>
          </a:prstGeom>
          <a:solidFill>
            <a:srgbClr val="FEF9C3"/>
          </a:solidFill>
          <a:ln w="9525">
            <a:solidFill>
              <a:srgbClr val="FEF9C3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45736" y="1078992"/>
            <a:ext cx="205740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4600" dirty="0"/>
          </a:p>
        </p:txBody>
      </p:sp>
      <p:sp>
        <p:nvSpPr>
          <p:cNvPr id="15" name="Text 13"/>
          <p:cNvSpPr/>
          <p:nvPr/>
        </p:nvSpPr>
        <p:spPr>
          <a:xfrm>
            <a:off x="4745736" y="1920240"/>
            <a:ext cx="2057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Tests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745736" y="2304288"/>
            <a:ext cx="2057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Rejection flow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958584" y="987552"/>
            <a:ext cx="2057400" cy="1719072"/>
          </a:xfrm>
          <a:prstGeom prst="rect">
            <a:avLst/>
          </a:prstGeom>
          <a:solidFill>
            <a:srgbClr val="FEE2E2"/>
          </a:solidFill>
          <a:ln w="9525">
            <a:solidFill>
              <a:srgbClr val="FEE2E2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958584" y="1078992"/>
            <a:ext cx="205740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6/6</a:t>
            </a:r>
            <a:endParaRPr lang="en-US" sz="4600" dirty="0"/>
          </a:p>
        </p:txBody>
      </p:sp>
      <p:sp>
        <p:nvSpPr>
          <p:cNvPr id="19" name="Text 17"/>
          <p:cNvSpPr/>
          <p:nvPr/>
        </p:nvSpPr>
        <p:spPr>
          <a:xfrm>
            <a:off x="6958584" y="1920240"/>
            <a:ext cx="2057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IDOR Fixes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958584" y="2304288"/>
            <a:ext cx="2057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audit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20040" y="2880360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Coverage (%)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20040" y="3310128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E2E — Workflow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2286000" y="3346704"/>
            <a:ext cx="4114800" cy="25603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86000" y="3346704"/>
            <a:ext cx="3826764" cy="256032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185916" y="3310128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338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93%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20040" y="3721608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E2E — Security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2286000" y="3758184"/>
            <a:ext cx="4114800" cy="25603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286000" y="3758184"/>
            <a:ext cx="4114800" cy="25603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73952" y="3721608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320040" y="4133088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— Rejection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2286000" y="4169664"/>
            <a:ext cx="4114800" cy="25603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286000" y="4169664"/>
            <a:ext cx="3621024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980176" y="4133088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88%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20040" y="4544568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IDOR / Auth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2286000" y="4581144"/>
            <a:ext cx="4114800" cy="25603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86000" y="4581144"/>
            <a:ext cx="4114800" cy="25603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73952" y="4544568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846320" y="2834640"/>
            <a:ext cx="3931920" cy="210312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983480" y="2907792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สิ่งที่พบจากการทดสอบ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4983480" y="3291840"/>
            <a:ext cx="36576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Rejection flow: พบและแก้ไข 19 bugs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issues: BUG-01/02 + FEATURE-01 + UX-01 ✅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import สำเร็จ: 41 projects + 90 internship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ผ่าน full workflow test ทุก role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64592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ปัญหาที่เจอ / อุปสรรคระหว่างการพัฒนา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" y="850392"/>
            <a:ext cx="8503920" cy="0"/>
          </a:xfrm>
          <a:prstGeom prst="line">
            <a:avLst/>
          </a:prstGeom>
          <a:noFill/>
          <a:ln w="12700">
            <a:solidFill>
              <a:srgbClr val="CADCF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987552"/>
            <a:ext cx="4224528" cy="1847088"/>
          </a:xfrm>
          <a:prstGeom prst="rect">
            <a:avLst/>
          </a:prstGeom>
          <a:solidFill>
            <a:srgbClr val="FEF9C3"/>
          </a:solidFill>
          <a:ln w="9525">
            <a:solidFill>
              <a:srgbClr val="F59E0B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52144"/>
            <a:ext cx="457200" cy="45720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15214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78408" y="1152144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 Font ใน PDF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1645920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pdfkit ไม่รองรับ Thai font โดย default → ตัวอักษรไทยไม่แสดง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57200" y="2130552"/>
            <a:ext cx="3977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เพิ่ม TH Sarabun New + Loma font ใน Docker image และ config pdfkit ให้ใช้ font ถูกต้อง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754880" y="987552"/>
            <a:ext cx="4224528" cy="1847088"/>
          </a:xfrm>
          <a:prstGeom prst="rect">
            <a:avLst/>
          </a:prstGeom>
          <a:solidFill>
            <a:srgbClr val="FEE2E2"/>
          </a:solidFill>
          <a:ln w="9525">
            <a:solidFill>
              <a:srgbClr val="DC2626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892040" y="1152144"/>
            <a:ext cx="457200" cy="45720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92040" y="115214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413248" y="1152144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IDOR Vulnerability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892040" y="1645920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PDF endpoint ไม่ตรวจ ownership → user A สามารถดู PDF ของ user B ได้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892040" y="2130552"/>
            <a:ext cx="3977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เพิ่ม ownership check ทุก PDF endpoint (6 จุด) พร้อม automated security tests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20040" y="2953512"/>
            <a:ext cx="4224528" cy="1847088"/>
          </a:xfrm>
          <a:prstGeom prst="rect">
            <a:avLst/>
          </a:prstGeom>
          <a:solidFill>
            <a:srgbClr val="EDE9FE"/>
          </a:solidFill>
          <a:ln w="9525">
            <a:solidFill>
              <a:srgbClr val="7C3AED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57200" y="3118104"/>
            <a:ext cx="457200" cy="45720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311810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78408" y="3118104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State Complexity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57200" y="3611880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State กระจายอยู่ใน 3 layers (DB enum, frontend constant, service logic) ไม่ sync กัน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57200" y="4096512"/>
            <a:ext cx="3977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สร้าง workflowStates.ts constants + WORKFLOW_STATES.md audit ทำให้ทุก layer ใช้แหล่งข้อมูลเดียว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754880" y="2953512"/>
            <a:ext cx="4224528" cy="1847088"/>
          </a:xfrm>
          <a:prstGeom prst="rect">
            <a:avLst/>
          </a:prstGeom>
          <a:solidFill>
            <a:srgbClr val="D1FAE5"/>
          </a:solidFill>
          <a:ln w="9525">
            <a:solidFill>
              <a:srgbClr val="059669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892040" y="3118104"/>
            <a:ext cx="457200" cy="457200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92040" y="311810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413248" y="3118104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UTF-8mb4 บน Docker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892040" y="3611880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Thai characters หายเมื่อ import data ผ่าน docker exec โดยไม่ระบุ charset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4892040" y="4096512"/>
            <a:ext cx="3977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เพิ่ม --default-character-set=utf8mb4 ทุกครั้งที่รัน mysql commands บน production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4472C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864608"/>
            <a:ext cx="9144000" cy="278892"/>
          </a:xfrm>
          <a:prstGeom prst="rect">
            <a:avLst/>
          </a:prstGeom>
          <a:solidFill>
            <a:srgbClr val="162055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0" y="-457200"/>
            <a:ext cx="2743200" cy="2743200"/>
          </a:xfrm>
          <a:prstGeom prst="ellipse">
            <a:avLst/>
          </a:prstGeom>
          <a:solidFill>
            <a:srgbClr val="2D3A8C">
              <a:alpha val="35000"/>
            </a:srgbClr>
          </a:solidFill>
          <a:ln w="12700">
            <a:solidFill>
              <a:srgbClr val="2D3A8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2860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สรุป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48640" y="960120"/>
            <a:ext cx="502920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ระบบครอบคลุม workflow ครบทุก use case (โครงงาน + ฝึกงาน)</a:t>
            </a:r>
            <a:endParaRPr lang="en-US" sz="1250" dirty="0"/>
          </a:p>
          <a:p>
            <a:pPr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PDF หนังสือราชการ 3 ประเภท ตรงตาม template ต้นฉบับ</a:t>
            </a:r>
            <a:endParaRPr lang="en-US" sz="1250" dirty="0"/>
          </a:p>
          <a:p>
            <a:pPr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E2E tests 160 pass, IDOR fixed 6/6, Security audit ผ่าน</a:t>
            </a:r>
            <a:endParaRPr lang="en-US" sz="1250" dirty="0"/>
          </a:p>
          <a:p>
            <a:pPr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Production deploy สำเร็จ — ข้อมูลจริง 41 projects + 90 internship</a:t>
            </a:r>
            <a:endParaRPr lang="en-US" sz="1250" dirty="0"/>
          </a:p>
          <a:p>
            <a:pPr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Real-time notifications + Background agents ทำงานครบ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852160" y="822960"/>
            <a:ext cx="2926080" cy="3200400"/>
          </a:xfrm>
          <a:prstGeom prst="rect">
            <a:avLst/>
          </a:prstGeom>
          <a:solidFill>
            <a:srgbClr val="162055"/>
          </a:solidFill>
          <a:ln w="9525">
            <a:solidFill>
              <a:srgbClr val="4472C4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852160" y="1005840"/>
            <a:ext cx="29260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Q&amp;A</a:t>
            </a:r>
            <a:endParaRPr lang="en-US" sz="5200" dirty="0"/>
          </a:p>
        </p:txBody>
      </p:sp>
      <p:sp>
        <p:nvSpPr>
          <p:cNvPr id="9" name="Shape 7"/>
          <p:cNvSpPr/>
          <p:nvPr/>
        </p:nvSpPr>
        <p:spPr>
          <a:xfrm>
            <a:off x="6217920" y="2194560"/>
            <a:ext cx="2194560" cy="0"/>
          </a:xfrm>
          <a:prstGeom prst="line">
            <a:avLst/>
          </a:prstGeom>
          <a:noFill/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852160" y="233172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คำถามและข้อเสนอแนะ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852160" y="283464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89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ยินดีตอบทุกคำถาม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4864608"/>
            <a:ext cx="8229600" cy="2788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7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CSLogbook  ·  ภาควิชาวิทยาการคอมพิวเตอร์และเทคโนโลยีสารสนเทศ  ·  มจพ. 2568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CSLogbook</dc:title>
  <dc:subject>PptxGenJS Presentation</dc:subject>
  <dc:creator>PptxGenJS</dc:creator>
  <cp:lastModifiedBy>PptxGenJS</cp:lastModifiedBy>
  <cp:revision>1</cp:revision>
  <dcterms:created xsi:type="dcterms:W3CDTF">2026-03-30T12:15:02Z</dcterms:created>
  <dcterms:modified xsi:type="dcterms:W3CDTF">2026-03-30T12:15:02Z</dcterms:modified>
</cp:coreProperties>
</file>