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D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1005840"/>
            <a:ext cx="9144000" cy="0"/>
          </a:xfrm>
          <a:prstGeom prst="line">
            <a:avLst/>
          </a:prstGeom>
          <a:noFill/>
          <a:ln w="6350">
            <a:solidFill>
              <a:srgbClr val="122B5C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2011680"/>
            <a:ext cx="9144000" cy="0"/>
          </a:xfrm>
          <a:prstGeom prst="line">
            <a:avLst/>
          </a:prstGeom>
          <a:noFill/>
          <a:ln w="6350">
            <a:solidFill>
              <a:srgbClr val="122B5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0" y="3017520"/>
            <a:ext cx="9144000" cy="0"/>
          </a:xfrm>
          <a:prstGeom prst="line">
            <a:avLst/>
          </a:prstGeom>
          <a:noFill/>
          <a:ln w="6350">
            <a:solidFill>
              <a:srgbClr val="122B5C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0" y="4023360"/>
            <a:ext cx="9144000" cy="0"/>
          </a:xfrm>
          <a:prstGeom prst="line">
            <a:avLst/>
          </a:prstGeom>
          <a:noFill/>
          <a:ln w="6350">
            <a:solidFill>
              <a:srgbClr val="122B5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31520" y="1097280"/>
            <a:ext cx="76809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CSLogbook</a:t>
            </a:r>
            <a:endParaRPr lang="en-US" sz="5200" dirty="0"/>
          </a:p>
        </p:txBody>
      </p:sp>
      <p:sp>
        <p:nvSpPr>
          <p:cNvPr id="8" name="Text 6"/>
          <p:cNvSpPr/>
          <p:nvPr/>
        </p:nvSpPr>
        <p:spPr>
          <a:xfrm>
            <a:off x="731520" y="2103120"/>
            <a:ext cx="7680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 Activity Management System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731520" y="2834640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ระบบจัดการกิจกรรมนักศึกษา — ภาควิชาวิทยาการคอมพิวเตอร์และเทคโนโลยีสารสนเทศ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731520" y="3474720"/>
            <a:ext cx="1371600" cy="45720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11" name="Text 9"/>
          <p:cNvSpPr/>
          <p:nvPr/>
        </p:nvSpPr>
        <p:spPr>
          <a:xfrm>
            <a:off x="731520" y="384048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March 2026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0" y="4873752"/>
            <a:ext cx="9144000" cy="274320"/>
          </a:xfrm>
          <a:prstGeom prst="rect">
            <a:avLst/>
          </a:prstGeom>
          <a:solidFill>
            <a:srgbClr val="122B5C"/>
          </a:solidFill>
          <a:ln/>
        </p:spPr>
      </p:sp>
      <p:sp>
        <p:nvSpPr>
          <p:cNvPr id="13" name="Text 11"/>
          <p:cNvSpPr/>
          <p:nvPr/>
        </p:nvSpPr>
        <p:spPr>
          <a:xfrm>
            <a:off x="731520" y="4873752"/>
            <a:ext cx="7680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 &amp; IT Department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B1D3A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0"/>
            <a:ext cx="7680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is CSLogbook?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7680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CSLogbook เป็นระบบ Full-stack สำหรับจัดการกิจกรรมนักศึกษาทั้งหมดของภาควิชา CS&amp;IT ครอบคลุมตั้งแต่การฝึกงาน โปรเจกต์จบ การส่งเอกสาร Logbook การนัดพบอาจารย์ ไปจนถึงการสอบหัวข้อและ Defense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731520" y="2194560"/>
            <a:ext cx="3657600" cy="11887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731520" y="2194560"/>
            <a:ext cx="54864" cy="1188720"/>
          </a:xfrm>
          <a:prstGeom prst="rect">
            <a:avLst/>
          </a:prstGeom>
          <a:solidFill>
            <a:srgbClr val="0891B2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60120" y="2377440"/>
            <a:ext cx="365760" cy="36576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463040" y="233172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Internship Management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1463040" y="2651760"/>
            <a:ext cx="2743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ลงทะเบียน, CP05, Acceptance Letter, Logbook, Certificate, ประเมินผล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4754880" y="2194560"/>
            <a:ext cx="3657600" cy="11887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4754880" y="2194560"/>
            <a:ext cx="54864" cy="1188720"/>
          </a:xfrm>
          <a:prstGeom prst="rect">
            <a:avLst/>
          </a:prstGeom>
          <a:solidFill>
            <a:srgbClr val="0891B2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83480" y="2377440"/>
            <a:ext cx="365760" cy="36576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5486400" y="233172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&amp; Thesis</a:t>
            </a:r>
            <a:endParaRPr lang="en-US" sz="1300" dirty="0"/>
          </a:p>
        </p:txBody>
      </p:sp>
      <p:sp>
        <p:nvSpPr>
          <p:cNvPr id="14" name="Text 10"/>
          <p:cNvSpPr/>
          <p:nvPr/>
        </p:nvSpPr>
        <p:spPr>
          <a:xfrm>
            <a:off x="5486400" y="2651760"/>
            <a:ext cx="2743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1-2, สอบหัวข้อ, System Test, Defense, KP02, Milestone tracking</a:t>
            </a:r>
            <a:endParaRPr lang="en-US" sz="1100" dirty="0"/>
          </a:p>
        </p:txBody>
      </p:sp>
      <p:sp>
        <p:nvSpPr>
          <p:cNvPr id="15" name="Shape 11"/>
          <p:cNvSpPr/>
          <p:nvPr/>
        </p:nvSpPr>
        <p:spPr>
          <a:xfrm>
            <a:off x="731520" y="3703320"/>
            <a:ext cx="3657600" cy="11887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731520" y="3703320"/>
            <a:ext cx="54864" cy="1188720"/>
          </a:xfrm>
          <a:prstGeom prst="rect">
            <a:avLst/>
          </a:prstGeom>
          <a:solidFill>
            <a:srgbClr val="0891B2"/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0120" y="3886200"/>
            <a:ext cx="365760" cy="365760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1463040" y="384048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 Workflow</a:t>
            </a:r>
            <a:endParaRPr lang="en-US" sz="1300" dirty="0"/>
          </a:p>
        </p:txBody>
      </p:sp>
      <p:sp>
        <p:nvSpPr>
          <p:cNvPr id="19" name="Text 14"/>
          <p:cNvSpPr/>
          <p:nvPr/>
        </p:nvSpPr>
        <p:spPr>
          <a:xfrm>
            <a:off x="1463040" y="4160520"/>
            <a:ext cx="2743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ส่งเอกสาร → อาจารย์ตรวจ → อนุมัติ พร้อม Email Approval Link</a:t>
            </a:r>
            <a:endParaRPr lang="en-US" sz="1100" dirty="0"/>
          </a:p>
        </p:txBody>
      </p:sp>
      <p:sp>
        <p:nvSpPr>
          <p:cNvPr id="20" name="Shape 15"/>
          <p:cNvSpPr/>
          <p:nvPr/>
        </p:nvSpPr>
        <p:spPr>
          <a:xfrm>
            <a:off x="4754880" y="3703320"/>
            <a:ext cx="3657600" cy="11887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21" name="Shape 16"/>
          <p:cNvSpPr/>
          <p:nvPr/>
        </p:nvSpPr>
        <p:spPr>
          <a:xfrm>
            <a:off x="4754880" y="3703320"/>
            <a:ext cx="54864" cy="1188720"/>
          </a:xfrm>
          <a:prstGeom prst="rect">
            <a:avLst/>
          </a:prstGeom>
          <a:solidFill>
            <a:srgbClr val="0891B2"/>
          </a:solidFill>
          <a:ln/>
        </p:spPr>
      </p:sp>
      <p:pic>
        <p:nvPicPr>
          <p:cNvPr id="2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83480" y="3886200"/>
            <a:ext cx="365760" cy="365760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5486400" y="384048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Notifications</a:t>
            </a:r>
            <a:endParaRPr lang="en-US" sz="1300" dirty="0"/>
          </a:p>
        </p:txBody>
      </p:sp>
      <p:sp>
        <p:nvSpPr>
          <p:cNvPr id="24" name="Text 18"/>
          <p:cNvSpPr/>
          <p:nvPr/>
        </p:nvSpPr>
        <p:spPr>
          <a:xfrm>
            <a:off x="5486400" y="4160520"/>
            <a:ext cx="2743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Socket.io แจ้งเตือนทันที พร้อม Deadline tracking &amp; Calendar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B1D3A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0"/>
            <a:ext cx="7680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Technology Stack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731520" y="1097280"/>
            <a:ext cx="2514600" cy="502920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1097280"/>
            <a:ext cx="2514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731520" y="1600200"/>
            <a:ext cx="2514600" cy="32004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868680" y="1737360"/>
            <a:ext cx="224028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Node.js 18+ / Express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Sequelize 6 ORM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MySQL 8.0 (UTF-8mb4)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Socket.io (Real-time)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JWT Authentication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Swagger / OpenAPI 3.0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node-cron (Agents)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Winston Logger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520440" y="1097280"/>
            <a:ext cx="2514600" cy="502920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9" name="Text 7"/>
          <p:cNvSpPr/>
          <p:nvPr/>
        </p:nvSpPr>
        <p:spPr>
          <a:xfrm>
            <a:off x="3520440" y="1097280"/>
            <a:ext cx="2514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3520440" y="1600200"/>
            <a:ext cx="2514600" cy="32004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3657600" y="1737360"/>
            <a:ext cx="224028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Next.js 16 (App Router)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19 + TypeScript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TanStack Query v5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 Design 5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Context (Auth)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72 Pages / 34 Hooks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Responsive Design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Token-based Public Pages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309360" y="1097280"/>
            <a:ext cx="2514600" cy="50292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3" name="Text 11"/>
          <p:cNvSpPr/>
          <p:nvPr/>
        </p:nvSpPr>
        <p:spPr>
          <a:xfrm>
            <a:off x="6309360" y="1097280"/>
            <a:ext cx="2514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Infrastructure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6309360" y="1600200"/>
            <a:ext cx="2514600" cy="32004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6446520" y="1737360"/>
            <a:ext cx="224028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 Compose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Nginx Reverse Proxy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Actions CI/CD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Let's Encrypt SSL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GHCR Container Registry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512MB per Container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Graceful Shutdown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 Check Endpoints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B1D3A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0"/>
            <a:ext cx="7680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System Architecture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3200400" y="1097280"/>
            <a:ext cx="2743200" cy="548640"/>
          </a:xfrm>
          <a:prstGeom prst="rect">
            <a:avLst/>
          </a:prstGeom>
          <a:solidFill>
            <a:srgbClr val="64748B"/>
          </a:solidFill>
          <a:ln/>
          <a:effectLst>
            <a:outerShdw sx="100000" sy="100000" kx="0" ky="0" algn="bl" rotWithShape="0" blurRad="50800" dist="12700" dir="8100000">
              <a:srgbClr val="000000">
                <a:alpha val="1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3200400" y="109728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Internet (Client Browser)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4572000" y="1645920"/>
            <a:ext cx="0" cy="320040"/>
          </a:xfrm>
          <a:prstGeom prst="line">
            <a:avLst/>
          </a:prstGeom>
          <a:noFill/>
          <a:ln w="25400">
            <a:solidFill>
              <a:srgbClr val="0891B2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286000" y="1965960"/>
            <a:ext cx="4572000" cy="548640"/>
          </a:xfrm>
          <a:prstGeom prst="rect">
            <a:avLst/>
          </a:prstGeom>
          <a:solidFill>
            <a:srgbClr val="0891B2"/>
          </a:solidFill>
          <a:ln/>
          <a:effectLst>
            <a:outerShdw sx="100000" sy="100000" kx="0" ky="0" algn="bl" rotWithShape="0" blurRad="50800" dist="12700" dir="8100000">
              <a:srgbClr val="000000">
                <a:alpha val="1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2286000" y="1965960"/>
            <a:ext cx="4572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Nginx Reverse Proxy  (Port 80 / SSL)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2926080" y="2514600"/>
            <a:ext cx="0" cy="320040"/>
          </a:xfrm>
          <a:prstGeom prst="line">
            <a:avLst/>
          </a:prstGeom>
          <a:noFill/>
          <a:ln w="25400">
            <a:solidFill>
              <a:srgbClr val="0891B2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572000" y="2514600"/>
            <a:ext cx="0" cy="320040"/>
          </a:xfrm>
          <a:prstGeom prst="line">
            <a:avLst/>
          </a:prstGeom>
          <a:noFill/>
          <a:ln w="25400">
            <a:solidFill>
              <a:srgbClr val="0891B2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217920" y="2514600"/>
            <a:ext cx="0" cy="320040"/>
          </a:xfrm>
          <a:prstGeom prst="line">
            <a:avLst/>
          </a:prstGeom>
          <a:noFill/>
          <a:ln w="25400">
            <a:solidFill>
              <a:srgbClr val="0891B2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371600" y="2834640"/>
            <a:ext cx="2194560" cy="777240"/>
          </a:xfrm>
          <a:prstGeom prst="rect">
            <a:avLst/>
          </a:prstGeom>
          <a:solidFill>
            <a:srgbClr val="7C3AED"/>
          </a:solidFill>
          <a:ln/>
          <a:effectLst>
            <a:outerShdw sx="100000" sy="100000" kx="0" ky="0" algn="bl" rotWithShape="0" blurRad="50800" dist="12700" dir="8100000">
              <a:srgbClr val="000000">
                <a:alpha val="10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1371600" y="2834640"/>
            <a:ext cx="21945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Next.js :3000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3703320" y="2834640"/>
            <a:ext cx="2194560" cy="777240"/>
          </a:xfrm>
          <a:prstGeom prst="rect">
            <a:avLst/>
          </a:prstGeom>
          <a:solidFill>
            <a:srgbClr val="0891B2"/>
          </a:solidFill>
          <a:ln/>
          <a:effectLst>
            <a:outerShdw sx="100000" sy="100000" kx="0" ky="0" algn="bl" rotWithShape="0" blurRad="50800" dist="12700" dir="8100000">
              <a:srgbClr val="000000">
                <a:alpha val="10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3703320" y="2834640"/>
            <a:ext cx="21945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 API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Express :5000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6035040" y="2834640"/>
            <a:ext cx="2194560" cy="777240"/>
          </a:xfrm>
          <a:prstGeom prst="rect">
            <a:avLst/>
          </a:prstGeom>
          <a:solidFill>
            <a:srgbClr val="F59E0B"/>
          </a:solidFill>
          <a:ln/>
          <a:effectLst>
            <a:outerShdw sx="100000" sy="100000" kx="0" ky="0" algn="bl" rotWithShape="0" blurRad="50800" dist="12700" dir="8100000">
              <a:srgbClr val="000000">
                <a:alpha val="10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6035040" y="2834640"/>
            <a:ext cx="21945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Socket.io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:5000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572000" y="3611880"/>
            <a:ext cx="0" cy="320040"/>
          </a:xfrm>
          <a:prstGeom prst="line">
            <a:avLst/>
          </a:prstGeom>
          <a:noFill/>
          <a:ln w="25400">
            <a:solidFill>
              <a:srgbClr val="0891B2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2743200" y="3931920"/>
            <a:ext cx="3657600" cy="548640"/>
          </a:xfrm>
          <a:prstGeom prst="rect">
            <a:avLst/>
          </a:prstGeom>
          <a:solidFill>
            <a:srgbClr val="122B5C"/>
          </a:solidFill>
          <a:ln/>
          <a:effectLst>
            <a:outerShdw sx="100000" sy="100000" kx="0" ky="0" algn="bl" rotWithShape="0" blurRad="50800" dist="12700" dir="8100000">
              <a:srgbClr val="000000">
                <a:alpha val="10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2743200" y="3931920"/>
            <a:ext cx="3657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MySQL 8.0  (45 Models / 101 Migrations)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274320" y="1965960"/>
            <a:ext cx="1828800" cy="16459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274320" y="1965960"/>
            <a:ext cx="1828800" cy="54864"/>
          </a:xfrm>
          <a:prstGeom prst="rect">
            <a:avLst/>
          </a:prstGeom>
          <a:solidFill>
            <a:srgbClr val="64748B"/>
          </a:solidFill>
          <a:ln/>
        </p:spPr>
      </p:sp>
      <p:sp>
        <p:nvSpPr>
          <p:cNvPr id="23" name="Text 21"/>
          <p:cNvSpPr/>
          <p:nvPr/>
        </p:nvSpPr>
        <p:spPr>
          <a:xfrm>
            <a:off x="365760" y="205740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Route Mapping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411480" y="2377440"/>
            <a:ext cx="15544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  →  Frontend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/api/  →  Backend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/socket.io/  →  WS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/uploads/  →  Static</a:t>
            </a:r>
            <a:endParaRPr lang="en-US" sz="950" dirty="0"/>
          </a:p>
        </p:txBody>
      </p:sp>
      <p:pic>
        <p:nvPicPr>
          <p:cNvPr id="2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589520" y="3977640"/>
            <a:ext cx="365760" cy="365760"/>
          </a:xfrm>
          <a:prstGeom prst="rect">
            <a:avLst/>
          </a:prstGeom>
        </p:spPr>
      </p:pic>
      <p:sp>
        <p:nvSpPr>
          <p:cNvPr id="26" name="Text 23"/>
          <p:cNvSpPr/>
          <p:nvPr/>
        </p:nvSpPr>
        <p:spPr>
          <a:xfrm>
            <a:off x="7315200" y="434340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 Compose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B1D3A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0"/>
            <a:ext cx="7680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Authentication Flow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188720"/>
            <a:ext cx="1508760" cy="18288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005840" y="1325880"/>
            <a:ext cx="411480" cy="411480"/>
          </a:xfrm>
          <a:prstGeom prst="ellipse">
            <a:avLst/>
          </a:prstGeom>
          <a:solidFill>
            <a:srgbClr val="0891B2"/>
          </a:solidFill>
          <a:ln/>
        </p:spPr>
      </p:sp>
      <p:sp>
        <p:nvSpPr>
          <p:cNvPr id="6" name="Text 4"/>
          <p:cNvSpPr/>
          <p:nvPr/>
        </p:nvSpPr>
        <p:spPr>
          <a:xfrm>
            <a:off x="1005840" y="132588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548640" y="1828800"/>
            <a:ext cx="1325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Login / SSO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548640" y="2148840"/>
            <a:ext cx="13258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ผู้ใช้เข้าสู่ระบบ</a:t>
            </a:r>
            <a:endParaRPr lang="en-US" sz="95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ผ่าน KMUTNB SSO</a:t>
            </a:r>
            <a:endParaRPr lang="en-US" sz="95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หรือ Email/Password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1965960" y="1828800"/>
            <a:ext cx="182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2148840" y="1188720"/>
            <a:ext cx="1508760" cy="18288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2697480" y="1325880"/>
            <a:ext cx="411480" cy="411480"/>
          </a:xfrm>
          <a:prstGeom prst="ellipse">
            <a:avLst/>
          </a:prstGeom>
          <a:solidFill>
            <a:srgbClr val="0891B2"/>
          </a:solidFill>
          <a:ln/>
        </p:spPr>
      </p:sp>
      <p:sp>
        <p:nvSpPr>
          <p:cNvPr id="12" name="Text 10"/>
          <p:cNvSpPr/>
          <p:nvPr/>
        </p:nvSpPr>
        <p:spPr>
          <a:xfrm>
            <a:off x="2697480" y="132588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2240280" y="1828800"/>
            <a:ext cx="1325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JWT Token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2240280" y="2148840"/>
            <a:ext cx="13258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Server สร้าง JWT</a:t>
            </a:r>
            <a:endParaRPr lang="en-US" sz="95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เก็บ userId, role</a:t>
            </a:r>
            <a:endParaRPr lang="en-US" sz="95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ส่งกลับ Client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3657600" y="1828800"/>
            <a:ext cx="182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3840480" y="1188720"/>
            <a:ext cx="1508760" cy="18288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389120" y="1325880"/>
            <a:ext cx="411480" cy="411480"/>
          </a:xfrm>
          <a:prstGeom prst="ellipse">
            <a:avLst/>
          </a:prstGeom>
          <a:solidFill>
            <a:srgbClr val="0891B2"/>
          </a:solidFill>
          <a:ln/>
        </p:spPr>
      </p:sp>
      <p:sp>
        <p:nvSpPr>
          <p:cNvPr id="18" name="Text 16"/>
          <p:cNvSpPr/>
          <p:nvPr/>
        </p:nvSpPr>
        <p:spPr>
          <a:xfrm>
            <a:off x="4389120" y="132588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3931920" y="1828800"/>
            <a:ext cx="1325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 Token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3931920" y="2148840"/>
            <a:ext cx="13258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 เก็บ Token</a:t>
            </a:r>
            <a:endParaRPr lang="en-US" sz="95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ใน localStorage</a:t>
            </a:r>
            <a:endParaRPr lang="en-US" sz="95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AuthContext จัดการ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5349240" y="1828800"/>
            <a:ext cx="182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22" name="Shape 20"/>
          <p:cNvSpPr/>
          <p:nvPr/>
        </p:nvSpPr>
        <p:spPr>
          <a:xfrm>
            <a:off x="5532120" y="1188720"/>
            <a:ext cx="1508760" cy="18288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6080760" y="1325880"/>
            <a:ext cx="411480" cy="411480"/>
          </a:xfrm>
          <a:prstGeom prst="ellipse">
            <a:avLst/>
          </a:prstGeom>
          <a:solidFill>
            <a:srgbClr val="0891B2"/>
          </a:solidFill>
          <a:ln/>
        </p:spPr>
      </p:sp>
      <p:sp>
        <p:nvSpPr>
          <p:cNvPr id="24" name="Text 22"/>
          <p:cNvSpPr/>
          <p:nvPr/>
        </p:nvSpPr>
        <p:spPr>
          <a:xfrm>
            <a:off x="6080760" y="132588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5623560" y="1828800"/>
            <a:ext cx="1325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Request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5623560" y="2148840"/>
            <a:ext cx="13258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apiFetch ใส่ Header</a:t>
            </a:r>
            <a:endParaRPr lang="en-US" sz="95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Authorization: Bearer</a:t>
            </a:r>
            <a:endParaRPr lang="en-US" sz="95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ทุก Request อัตโนมัติ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7040880" y="1828800"/>
            <a:ext cx="182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28" name="Shape 26"/>
          <p:cNvSpPr/>
          <p:nvPr/>
        </p:nvSpPr>
        <p:spPr>
          <a:xfrm>
            <a:off x="7223760" y="1188720"/>
            <a:ext cx="1508760" cy="18288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7772400" y="1325880"/>
            <a:ext cx="411480" cy="411480"/>
          </a:xfrm>
          <a:prstGeom prst="ellipse">
            <a:avLst/>
          </a:prstGeom>
          <a:solidFill>
            <a:srgbClr val="0891B2"/>
          </a:solidFill>
          <a:ln/>
        </p:spPr>
      </p:sp>
      <p:sp>
        <p:nvSpPr>
          <p:cNvPr id="30" name="Text 28"/>
          <p:cNvSpPr/>
          <p:nvPr/>
        </p:nvSpPr>
        <p:spPr>
          <a:xfrm>
            <a:off x="7772400" y="132588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7315200" y="1828800"/>
            <a:ext cx="1325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Verify &amp; RBAC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7315200" y="2148840"/>
            <a:ext cx="13258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authMiddleware ตรวจ</a:t>
            </a:r>
            <a:endParaRPr lang="en-US" sz="95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JWT → authorize ตรวจ</a:t>
            </a:r>
            <a:endParaRPr lang="en-US" sz="95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 + Permission</a:t>
            </a:r>
            <a:endParaRPr lang="en-US" sz="950" dirty="0"/>
          </a:p>
        </p:txBody>
      </p:sp>
      <p:sp>
        <p:nvSpPr>
          <p:cNvPr id="33" name="Shape 31"/>
          <p:cNvSpPr/>
          <p:nvPr/>
        </p:nvSpPr>
        <p:spPr>
          <a:xfrm>
            <a:off x="457200" y="3383280"/>
            <a:ext cx="8229600" cy="594360"/>
          </a:xfrm>
          <a:prstGeom prst="rect">
            <a:avLst/>
          </a:prstGeom>
          <a:solidFill>
            <a:srgbClr val="0B1D3A"/>
          </a:solidFill>
          <a:ln/>
        </p:spPr>
      </p:sp>
      <p:pic>
        <p:nvPicPr>
          <p:cNvPr id="3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3474720"/>
            <a:ext cx="320040" cy="320040"/>
          </a:xfrm>
          <a:prstGeom prst="rect">
            <a:avLst/>
          </a:prstGeom>
        </p:spPr>
      </p:pic>
      <p:sp>
        <p:nvSpPr>
          <p:cNvPr id="35" name="Text 32"/>
          <p:cNvSpPr/>
          <p:nvPr/>
        </p:nvSpPr>
        <p:spPr>
          <a:xfrm>
            <a:off x="1097280" y="3383280"/>
            <a:ext cx="74066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Token expiry check ทุกครั้งที่โหลดหน้า  |  Session หมดอายุอัตโนมัติ  |  Rate limiting ป้องกัน brute-force  |  CORS whitelist</a:t>
            </a:r>
            <a:endParaRPr lang="en-US" sz="1050" dirty="0"/>
          </a:p>
        </p:txBody>
      </p:sp>
      <p:sp>
        <p:nvSpPr>
          <p:cNvPr id="36" name="Text 33"/>
          <p:cNvSpPr/>
          <p:nvPr/>
        </p:nvSpPr>
        <p:spPr>
          <a:xfrm>
            <a:off x="457200" y="416052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SSO: KMUTNB Single Sign-On integration  →  Token callback  →  completeSsoLogin()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B1D3A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0"/>
            <a:ext cx="7680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Role-Based Access Control (RBAC)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731520" y="1097280"/>
            <a:ext cx="2468880" cy="28346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31520" y="1097280"/>
            <a:ext cx="2468880" cy="54864"/>
          </a:xfrm>
          <a:prstGeom prst="rect">
            <a:avLst/>
          </a:prstGeom>
          <a:solidFill>
            <a:srgbClr val="10B981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737360" y="1280160"/>
            <a:ext cx="457200" cy="45720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731520" y="1783080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914400" y="2148840"/>
            <a:ext cx="210312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ส่งเอกสาร / Logbook</a:t>
            </a:r>
            <a:endParaRPr lang="en-US" sz="10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สร้างโปรเจกต์ / Milestone</a:t>
            </a:r>
            <a:endParaRPr lang="en-US" sz="10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ลงทะเบียนฝึกงาน</a:t>
            </a:r>
            <a:endParaRPr lang="en-US" sz="10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ขอ Email Approval</a:t>
            </a:r>
            <a:endParaRPr lang="en-US" sz="10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ดูข้อมูลตนเอง</a:t>
            </a:r>
            <a:endParaRPr lang="en-US" sz="1050" dirty="0"/>
          </a:p>
        </p:txBody>
      </p:sp>
      <p:sp>
        <p:nvSpPr>
          <p:cNvPr id="9" name="Shape 6"/>
          <p:cNvSpPr/>
          <p:nvPr/>
        </p:nvSpPr>
        <p:spPr>
          <a:xfrm>
            <a:off x="3474720" y="1097280"/>
            <a:ext cx="2468880" cy="28346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3474720" y="1097280"/>
            <a:ext cx="2468880" cy="54864"/>
          </a:xfrm>
          <a:prstGeom prst="rect">
            <a:avLst/>
          </a:prstGeom>
          <a:solidFill>
            <a:srgbClr val="7C3AED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80560" y="1280160"/>
            <a:ext cx="457200" cy="45720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3474720" y="1783080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Teacher</a:t>
            </a:r>
            <a:endParaRPr lang="en-US" sz="1500" dirty="0"/>
          </a:p>
        </p:txBody>
      </p:sp>
      <p:sp>
        <p:nvSpPr>
          <p:cNvPr id="13" name="Text 9"/>
          <p:cNvSpPr/>
          <p:nvPr/>
        </p:nvSpPr>
        <p:spPr>
          <a:xfrm>
            <a:off x="3657600" y="2148840"/>
            <a:ext cx="210312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ตรวจเอกสาร / อนุมัติ</a:t>
            </a:r>
            <a:endParaRPr lang="en-US" sz="10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ดู Logbook / ให้ Approve</a:t>
            </a:r>
            <a:endParaRPr lang="en-US" sz="10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สอบหัวข้อ / System Test</a:t>
            </a:r>
            <a:endParaRPr lang="en-US" sz="10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จัดการ Timeline step</a:t>
            </a:r>
            <a:endParaRPr lang="en-US" sz="10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Sub-permissions:  type, position, topic_exam, export</a:t>
            </a:r>
            <a:endParaRPr lang="en-US" sz="1050" dirty="0"/>
          </a:p>
        </p:txBody>
      </p:sp>
      <p:sp>
        <p:nvSpPr>
          <p:cNvPr id="14" name="Shape 10"/>
          <p:cNvSpPr/>
          <p:nvPr/>
        </p:nvSpPr>
        <p:spPr>
          <a:xfrm>
            <a:off x="6217920" y="1097280"/>
            <a:ext cx="2468880" cy="28346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6217920" y="1097280"/>
            <a:ext cx="2468880" cy="54864"/>
          </a:xfrm>
          <a:prstGeom prst="rect">
            <a:avLst/>
          </a:prstGeom>
          <a:solidFill>
            <a:srgbClr val="0891B2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23760" y="1280160"/>
            <a:ext cx="457200" cy="45720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6217920" y="1783080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</a:t>
            </a:r>
            <a:endParaRPr lang="en-US" sz="1500" dirty="0"/>
          </a:p>
        </p:txBody>
      </p:sp>
      <p:sp>
        <p:nvSpPr>
          <p:cNvPr id="18" name="Text 13"/>
          <p:cNvSpPr/>
          <p:nvPr/>
        </p:nvSpPr>
        <p:spPr>
          <a:xfrm>
            <a:off x="6400800" y="2148840"/>
            <a:ext cx="210312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จัดการผู้ใช้ทั้งหมด</a:t>
            </a:r>
            <a:endParaRPr lang="en-US" sz="10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ตั้งค่า Academic / Curriculum</a:t>
            </a:r>
            <a:endParaRPr lang="en-US" sz="10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จัดการ Workflow / Deadline</a:t>
            </a:r>
            <a:endParaRPr lang="en-US" sz="10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ดู Reports ทั้งระบบ</a:t>
            </a:r>
            <a:endParaRPr lang="en-US" sz="10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Upload CSV / Notification Settings</a:t>
            </a:r>
            <a:endParaRPr lang="en-US" sz="1050" dirty="0"/>
          </a:p>
        </p:txBody>
      </p:sp>
      <p:sp>
        <p:nvSpPr>
          <p:cNvPr id="19" name="Shape 14"/>
          <p:cNvSpPr/>
          <p:nvPr/>
        </p:nvSpPr>
        <p:spPr>
          <a:xfrm>
            <a:off x="731520" y="4160520"/>
            <a:ext cx="7680960" cy="640080"/>
          </a:xfrm>
          <a:prstGeom prst="rect">
            <a:avLst/>
          </a:prstGeom>
          <a:solidFill>
            <a:srgbClr val="0B1D3A"/>
          </a:solidFill>
          <a:ln/>
        </p:spPr>
      </p:sp>
      <p:sp>
        <p:nvSpPr>
          <p:cNvPr id="20" name="Text 15"/>
          <p:cNvSpPr/>
          <p:nvPr/>
        </p:nvSpPr>
        <p:spPr>
          <a:xfrm>
            <a:off x="914400" y="416052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Permission Resolution:  buildPrincipalKeys(user) → role + teacher:type + teacher:position:* + flags → authorize(resource, action)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B1D3A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0"/>
            <a:ext cx="7680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Backend Architecture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731520" y="1051560"/>
            <a:ext cx="5029200" cy="594360"/>
          </a:xfrm>
          <a:prstGeom prst="rect">
            <a:avLst/>
          </a:prstGeom>
          <a:solidFill>
            <a:srgbClr val="64748B"/>
          </a:solidFill>
          <a:ln/>
          <a:effectLst>
            <a:outerShdw sx="100000" sy="100000" kx="0" ky="0" algn="bl" rotWithShape="0" blurRad="50800" dist="12700" dir="8100000">
              <a:srgbClr val="000000">
                <a:alpha val="1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914400" y="1051560"/>
            <a:ext cx="2286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Routes (21 files)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3017520" y="1051560"/>
            <a:ext cx="25603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authRoutes, projectRoutes, internshipRoutes, documentRoutes...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3017520" y="1600200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891B2"/>
                </a:solidFill>
              </a:rPr>
              <a:t>▼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731520" y="1783080"/>
            <a:ext cx="5029200" cy="594360"/>
          </a:xfrm>
          <a:prstGeom prst="rect">
            <a:avLst/>
          </a:prstGeom>
          <a:solidFill>
            <a:srgbClr val="122B5C"/>
          </a:solidFill>
          <a:ln/>
          <a:effectLst>
            <a:outerShdw sx="100000" sy="100000" kx="0" ky="0" algn="bl" rotWithShape="0" blurRad="50800" dist="12700" dir="8100000">
              <a:srgbClr val="000000">
                <a:alpha val="1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914400" y="1783080"/>
            <a:ext cx="2286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Middleware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3017520" y="1783080"/>
            <a:ext cx="25603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authMiddleware → authorize → deadlineEnforcement → rateLimiter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3017520" y="2331720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891B2"/>
                </a:solidFill>
              </a:rPr>
              <a:t>▼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731520" y="2514600"/>
            <a:ext cx="5029200" cy="594360"/>
          </a:xfrm>
          <a:prstGeom prst="rect">
            <a:avLst/>
          </a:prstGeom>
          <a:solidFill>
            <a:srgbClr val="0891B2"/>
          </a:solidFill>
          <a:ln/>
          <a:effectLst>
            <a:outerShdw sx="100000" sy="100000" kx="0" ky="0" algn="bl" rotWithShape="0" blurRad="50800" dist="12700" dir="8100000">
              <a:srgbClr val="000000">
                <a:alpha val="10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914400" y="2514600"/>
            <a:ext cx="2286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Controllers (38 files)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3017520" y="2514600"/>
            <a:ext cx="25603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Thin HTTP handlers — extract params, call service, return JSON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3017520" y="3063240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891B2"/>
                </a:solidFill>
              </a:rPr>
              <a:t>▼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731520" y="3246120"/>
            <a:ext cx="5029200" cy="594360"/>
          </a:xfrm>
          <a:prstGeom prst="rect">
            <a:avLst/>
          </a:prstGeom>
          <a:solidFill>
            <a:srgbClr val="7C3AED"/>
          </a:solidFill>
          <a:ln/>
          <a:effectLst>
            <a:outerShdw sx="100000" sy="100000" kx="0" ky="0" algn="bl" rotWithShape="0" blurRad="50800" dist="12700" dir="8100000">
              <a:srgbClr val="000000">
                <a:alpha val="10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914400" y="3246120"/>
            <a:ext cx="2286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Services (42 files)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3017520" y="3246120"/>
            <a:ext cx="25603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logic — validation, calculations, DB queries, notifications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3017520" y="3794760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891B2"/>
                </a:solidFill>
              </a:rPr>
              <a:t>▼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731520" y="3977640"/>
            <a:ext cx="5029200" cy="594360"/>
          </a:xfrm>
          <a:prstGeom prst="rect">
            <a:avLst/>
          </a:prstGeom>
          <a:solidFill>
            <a:srgbClr val="0B1D3A"/>
          </a:solidFill>
          <a:ln/>
          <a:effectLst>
            <a:outerShdw sx="100000" sy="100000" kx="0" ky="0" algn="bl" rotWithShape="0" blurRad="50800" dist="12700" dir="8100000">
              <a:srgbClr val="000000">
                <a:alpha val="10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914400" y="3977640"/>
            <a:ext cx="2286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Models (45 Sequelize)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3017520" y="3977640"/>
            <a:ext cx="25603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User, Student, Teacher, Project*, Internship*, Document*, Workflow...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6126480" y="1051560"/>
            <a:ext cx="2560320" cy="19202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6126480" y="1051560"/>
            <a:ext cx="2560320" cy="54864"/>
          </a:xfrm>
          <a:prstGeom prst="rect">
            <a:avLst/>
          </a:prstGeom>
          <a:solidFill>
            <a:srgbClr val="F59E0B"/>
          </a:solidFill>
          <a:ln/>
        </p:spPr>
      </p:sp>
      <p:pic>
        <p:nvPicPr>
          <p:cNvPr id="2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309360" y="1234440"/>
            <a:ext cx="320040" cy="320040"/>
          </a:xfrm>
          <a:prstGeom prst="rect">
            <a:avLst/>
          </a:prstGeom>
        </p:spPr>
      </p:pic>
      <p:sp>
        <p:nvSpPr>
          <p:cNvPr id="26" name="Text 23"/>
          <p:cNvSpPr/>
          <p:nvPr/>
        </p:nvSpPr>
        <p:spPr>
          <a:xfrm>
            <a:off x="6675120" y="123444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Background Agents</a:t>
            </a:r>
            <a:endParaRPr lang="en-US" sz="1200" dirty="0"/>
          </a:p>
        </p:txBody>
      </p:sp>
      <p:sp>
        <p:nvSpPr>
          <p:cNvPr id="27" name="Text 24"/>
          <p:cNvSpPr/>
          <p:nvPr/>
        </p:nvSpPr>
        <p:spPr>
          <a:xfrm>
            <a:off x="6309360" y="1645920"/>
            <a:ext cx="21945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Academic Semester Scheduler</a:t>
            </a:r>
            <a:endParaRPr lang="en-US" sz="9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Deadline Reminder Agent</a:t>
            </a:r>
            <a:endParaRPr lang="en-US" sz="9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Eligibility Checker</a:t>
            </a:r>
            <a:endParaRPr lang="en-US" sz="9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Purge Scheduler</a:t>
            </a:r>
            <a:endParaRPr lang="en-US" sz="9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 Status Monitor</a:t>
            </a:r>
            <a:endParaRPr lang="en-US" sz="9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Logbook Quality Monitor</a:t>
            </a:r>
            <a:endParaRPr lang="en-US" sz="9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Monitor</a:t>
            </a:r>
            <a:endParaRPr lang="en-US" sz="900" dirty="0"/>
          </a:p>
        </p:txBody>
      </p:sp>
      <p:sp>
        <p:nvSpPr>
          <p:cNvPr id="28" name="Shape 25"/>
          <p:cNvSpPr/>
          <p:nvPr/>
        </p:nvSpPr>
        <p:spPr>
          <a:xfrm>
            <a:off x="6126480" y="3200400"/>
            <a:ext cx="2560320" cy="13716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29" name="Shape 26"/>
          <p:cNvSpPr/>
          <p:nvPr/>
        </p:nvSpPr>
        <p:spPr>
          <a:xfrm>
            <a:off x="6126480" y="3200400"/>
            <a:ext cx="2560320" cy="54864"/>
          </a:xfrm>
          <a:prstGeom prst="rect">
            <a:avLst/>
          </a:prstGeom>
          <a:solidFill>
            <a:srgbClr val="10B981"/>
          </a:solidFill>
          <a:ln/>
        </p:spPr>
      </p:sp>
      <p:pic>
        <p:nvPicPr>
          <p:cNvPr id="3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09360" y="3337560"/>
            <a:ext cx="274320" cy="274320"/>
          </a:xfrm>
          <a:prstGeom prst="rect">
            <a:avLst/>
          </a:prstGeom>
        </p:spPr>
      </p:pic>
      <p:sp>
        <p:nvSpPr>
          <p:cNvPr id="31" name="Text 27"/>
          <p:cNvSpPr/>
          <p:nvPr/>
        </p:nvSpPr>
        <p:spPr>
          <a:xfrm>
            <a:off x="6675120" y="333756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</a:t>
            </a:r>
            <a:endParaRPr lang="en-US" sz="1200" dirty="0"/>
          </a:p>
        </p:txBody>
      </p:sp>
      <p:sp>
        <p:nvSpPr>
          <p:cNvPr id="32" name="Text 28"/>
          <p:cNvSpPr/>
          <p:nvPr/>
        </p:nvSpPr>
        <p:spPr>
          <a:xfrm>
            <a:off x="6309360" y="3703320"/>
            <a:ext cx="21945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MySQL 8.0 (Asia/Bangkok)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101 Migrations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45 Sequelize Models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snake_case / timestamps</a:t>
            </a:r>
            <a:endParaRPr lang="en-US" sz="9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B1D3A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0"/>
            <a:ext cx="7680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Deployment &amp; CI/CD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097280"/>
            <a:ext cx="1188720" cy="731520"/>
          </a:xfrm>
          <a:prstGeom prst="rect">
            <a:avLst/>
          </a:prstGeom>
          <a:solidFill>
            <a:srgbClr val="1E293B"/>
          </a:solidFill>
          <a:ln/>
          <a:effectLst>
            <a:outerShdw sx="100000" sy="100000" kx="0" ky="0" algn="bl" rotWithShape="0" blurRad="50800" dist="12700" dir="8100000">
              <a:srgbClr val="000000">
                <a:alpha val="1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457200" y="1097280"/>
            <a:ext cx="1188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Push to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master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1645920" y="1097280"/>
            <a:ext cx="137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891B2"/>
                </a:solidFill>
              </a:rPr>
              <a:t>→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1783080" y="1097280"/>
            <a:ext cx="1188720" cy="731520"/>
          </a:xfrm>
          <a:prstGeom prst="rect">
            <a:avLst/>
          </a:prstGeom>
          <a:solidFill>
            <a:srgbClr val="64748B"/>
          </a:solidFill>
          <a:ln/>
          <a:effectLst>
            <a:outerShdw sx="100000" sy="100000" kx="0" ky="0" algn="bl" rotWithShape="0" blurRad="50800" dist="12700" dir="8100000">
              <a:srgbClr val="000000">
                <a:alpha val="1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1783080" y="1097280"/>
            <a:ext cx="1188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Actions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2971800" y="1097280"/>
            <a:ext cx="137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891B2"/>
                </a:solidFill>
              </a:rPr>
              <a:t>→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3108960" y="1097280"/>
            <a:ext cx="1188720" cy="731520"/>
          </a:xfrm>
          <a:prstGeom prst="rect">
            <a:avLst/>
          </a:prstGeom>
          <a:solidFill>
            <a:srgbClr val="0891B2"/>
          </a:solidFill>
          <a:ln/>
          <a:effectLst>
            <a:outerShdw sx="100000" sy="100000" kx="0" ky="0" algn="bl" rotWithShape="0" blurRad="50800" dist="12700" dir="8100000">
              <a:srgbClr val="000000">
                <a:alpha val="10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3108960" y="1097280"/>
            <a:ext cx="1188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Images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4297680" y="1097280"/>
            <a:ext cx="137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891B2"/>
                </a:solidFill>
              </a:rPr>
              <a:t>→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4434840" y="1097280"/>
            <a:ext cx="1188720" cy="731520"/>
          </a:xfrm>
          <a:prstGeom prst="rect">
            <a:avLst/>
          </a:prstGeom>
          <a:solidFill>
            <a:srgbClr val="7C3AED"/>
          </a:solidFill>
          <a:ln/>
          <a:effectLst>
            <a:outerShdw sx="100000" sy="100000" kx="0" ky="0" algn="bl" rotWithShape="0" blurRad="50800" dist="12700" dir="8100000">
              <a:srgbClr val="000000">
                <a:alpha val="10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4434840" y="1097280"/>
            <a:ext cx="1188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Push to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GHCR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5623560" y="1097280"/>
            <a:ext cx="137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891B2"/>
                </a:solidFill>
              </a:rPr>
              <a:t>→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5760720" y="1097280"/>
            <a:ext cx="1188720" cy="731520"/>
          </a:xfrm>
          <a:prstGeom prst="rect">
            <a:avLst/>
          </a:prstGeom>
          <a:solidFill>
            <a:srgbClr val="F59E0B"/>
          </a:solidFill>
          <a:ln/>
          <a:effectLst>
            <a:outerShdw sx="100000" sy="100000" kx="0" ky="0" algn="bl" rotWithShape="0" blurRad="50800" dist="12700" dir="8100000">
              <a:srgbClr val="000000">
                <a:alpha val="10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5760720" y="1097280"/>
            <a:ext cx="1188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SSH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6949440" y="1097280"/>
            <a:ext cx="137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891B2"/>
                </a:solidFill>
              </a:rPr>
              <a:t>→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7086600" y="1097280"/>
            <a:ext cx="1188720" cy="731520"/>
          </a:xfrm>
          <a:prstGeom prst="rect">
            <a:avLst/>
          </a:prstGeom>
          <a:solidFill>
            <a:srgbClr val="10B981"/>
          </a:solidFill>
          <a:ln/>
          <a:effectLst>
            <a:outerShdw sx="100000" sy="100000" kx="0" ky="0" algn="bl" rotWithShape="0" blurRad="50800" dist="12700" dir="8100000">
              <a:srgbClr val="000000">
                <a:alpha val="10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7086600" y="1097280"/>
            <a:ext cx="1188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Compose Up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731520" y="210312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 Compose Services</a:t>
            </a:r>
            <a:endParaRPr lang="en-US" sz="14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31520" y="2468880"/>
          <a:ext cx="7680960" cy="914400"/>
        </p:xfrm>
        <a:graphic>
          <a:graphicData uri="http://schemas.openxmlformats.org/drawingml/2006/table">
            <a:tbl>
              <a:tblPr/>
              <a:tblGrid>
                <a:gridCol w="1371600"/>
                <a:gridCol w="3200400"/>
                <a:gridCol w="1097280"/>
                <a:gridCol w="1097280"/>
              </a:tblGrid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Service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D3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Image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D3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Port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D3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Memory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D3A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MySQL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mysql:8.0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3306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512 MB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Backend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ghcr.io/.../backend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5000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512 MB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Frontend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ghcr.io/.../frontend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3000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512 MB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3" name="Text 20"/>
          <p:cNvSpPr/>
          <p:nvPr/>
        </p:nvSpPr>
        <p:spPr>
          <a:xfrm>
            <a:off x="731520" y="3840480"/>
            <a:ext cx="7680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Persistent Volumes:  mysql-data  |  backend-uploads  |  backend-logs</a:t>
            </a:r>
            <a:endParaRPr lang="en-US" sz="1000" dirty="0"/>
          </a:p>
        </p:txBody>
      </p:sp>
      <p:sp>
        <p:nvSpPr>
          <p:cNvPr id="24" name="Shape 21"/>
          <p:cNvSpPr/>
          <p:nvPr/>
        </p:nvSpPr>
        <p:spPr>
          <a:xfrm>
            <a:off x="731520" y="4251960"/>
            <a:ext cx="7680960" cy="548640"/>
          </a:xfrm>
          <a:prstGeom prst="rect">
            <a:avLst/>
          </a:prstGeom>
          <a:solidFill>
            <a:srgbClr val="0B1D3A"/>
          </a:solidFill>
          <a:ln/>
        </p:spPr>
      </p:sp>
      <p:sp>
        <p:nvSpPr>
          <p:cNvPr id="25" name="Text 22"/>
          <p:cNvSpPr/>
          <p:nvPr/>
        </p:nvSpPr>
        <p:spPr>
          <a:xfrm>
            <a:off x="914400" y="425196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 Checks:  MySQL → mysqladmin ping  |  Backend → wget /api/health  |  Dependency chain: MySQL → Backend → Frontend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B1D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7680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By the Numbers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731520" y="960120"/>
            <a:ext cx="1371600" cy="36576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4" name="Shape 2"/>
          <p:cNvSpPr/>
          <p:nvPr/>
        </p:nvSpPr>
        <p:spPr>
          <a:xfrm>
            <a:off x="731520" y="1280160"/>
            <a:ext cx="2286000" cy="1051560"/>
          </a:xfrm>
          <a:prstGeom prst="rect">
            <a:avLst/>
          </a:prstGeom>
          <a:solidFill>
            <a:srgbClr val="122B5C"/>
          </a:solidFill>
          <a:ln/>
          <a:effectLst>
            <a:outerShdw sx="100000" sy="100000" kx="0" ky="0" algn="bl" rotWithShape="0" blurRad="50800" dist="12700" dir="8100000">
              <a:srgbClr val="000000">
                <a:alpha val="1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731520" y="1371600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22D3E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45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731520" y="192024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Models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383280" y="1280160"/>
            <a:ext cx="2286000" cy="1051560"/>
          </a:xfrm>
          <a:prstGeom prst="rect">
            <a:avLst/>
          </a:prstGeom>
          <a:solidFill>
            <a:srgbClr val="122B5C"/>
          </a:solidFill>
          <a:ln/>
          <a:effectLst>
            <a:outerShdw sx="100000" sy="100000" kx="0" ky="0" algn="bl" rotWithShape="0" blurRad="50800" dist="12700" dir="8100000">
              <a:srgbClr val="000000">
                <a:alpha val="1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3383280" y="1371600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22D3E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42</a:t>
            </a:r>
            <a:endParaRPr lang="en-US" sz="3600" dirty="0"/>
          </a:p>
        </p:txBody>
      </p:sp>
      <p:sp>
        <p:nvSpPr>
          <p:cNvPr id="9" name="Text 7"/>
          <p:cNvSpPr/>
          <p:nvPr/>
        </p:nvSpPr>
        <p:spPr>
          <a:xfrm>
            <a:off x="3383280" y="192024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Services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035040" y="1280160"/>
            <a:ext cx="2286000" cy="1051560"/>
          </a:xfrm>
          <a:prstGeom prst="rect">
            <a:avLst/>
          </a:prstGeom>
          <a:solidFill>
            <a:srgbClr val="122B5C"/>
          </a:solidFill>
          <a:ln/>
          <a:effectLst>
            <a:outerShdw sx="100000" sy="100000" kx="0" ky="0" algn="bl" rotWithShape="0" blurRad="50800" dist="12700" dir="8100000">
              <a:srgbClr val="000000">
                <a:alpha val="10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6035040" y="1371600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22D3E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38</a:t>
            </a:r>
            <a:endParaRPr lang="en-US" sz="3600" dirty="0"/>
          </a:p>
        </p:txBody>
      </p:sp>
      <p:sp>
        <p:nvSpPr>
          <p:cNvPr id="12" name="Text 10"/>
          <p:cNvSpPr/>
          <p:nvPr/>
        </p:nvSpPr>
        <p:spPr>
          <a:xfrm>
            <a:off x="6035040" y="192024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Controllers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731520" y="2560320"/>
            <a:ext cx="2286000" cy="1051560"/>
          </a:xfrm>
          <a:prstGeom prst="rect">
            <a:avLst/>
          </a:prstGeom>
          <a:solidFill>
            <a:srgbClr val="122B5C"/>
          </a:solidFill>
          <a:ln/>
          <a:effectLst>
            <a:outerShdw sx="100000" sy="100000" kx="0" ky="0" algn="bl" rotWithShape="0" blurRad="50800" dist="12700" dir="8100000">
              <a:srgbClr val="000000">
                <a:alpha val="10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731520" y="2651760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22D3E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72</a:t>
            </a:r>
            <a:endParaRPr lang="en-US" sz="3600" dirty="0"/>
          </a:p>
        </p:txBody>
      </p:sp>
      <p:sp>
        <p:nvSpPr>
          <p:cNvPr id="15" name="Text 13"/>
          <p:cNvSpPr/>
          <p:nvPr/>
        </p:nvSpPr>
        <p:spPr>
          <a:xfrm>
            <a:off x="731520" y="320040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Pages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3383280" y="2560320"/>
            <a:ext cx="2286000" cy="1051560"/>
          </a:xfrm>
          <a:prstGeom prst="rect">
            <a:avLst/>
          </a:prstGeom>
          <a:solidFill>
            <a:srgbClr val="122B5C"/>
          </a:solidFill>
          <a:ln/>
          <a:effectLst>
            <a:outerShdw sx="100000" sy="100000" kx="0" ky="0" algn="bl" rotWithShape="0" blurRad="50800" dist="12700" dir="8100000">
              <a:srgbClr val="000000">
                <a:alpha val="10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3383280" y="2651760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22D3E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34</a:t>
            </a:r>
            <a:endParaRPr lang="en-US" sz="3600" dirty="0"/>
          </a:p>
        </p:txBody>
      </p:sp>
      <p:sp>
        <p:nvSpPr>
          <p:cNvPr id="18" name="Text 16"/>
          <p:cNvSpPr/>
          <p:nvPr/>
        </p:nvSpPr>
        <p:spPr>
          <a:xfrm>
            <a:off x="3383280" y="320040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Hooks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6035040" y="2560320"/>
            <a:ext cx="2286000" cy="1051560"/>
          </a:xfrm>
          <a:prstGeom prst="rect">
            <a:avLst/>
          </a:prstGeom>
          <a:solidFill>
            <a:srgbClr val="122B5C"/>
          </a:solidFill>
          <a:ln/>
          <a:effectLst>
            <a:outerShdw sx="100000" sy="100000" kx="0" ky="0" algn="bl" rotWithShape="0" blurRad="50800" dist="12700" dir="8100000">
              <a:srgbClr val="000000">
                <a:alpha val="10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6035040" y="2651760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22D3E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21</a:t>
            </a:r>
            <a:endParaRPr lang="en-US" sz="3600" dirty="0"/>
          </a:p>
        </p:txBody>
      </p:sp>
      <p:sp>
        <p:nvSpPr>
          <p:cNvPr id="21" name="Text 19"/>
          <p:cNvSpPr/>
          <p:nvPr/>
        </p:nvSpPr>
        <p:spPr>
          <a:xfrm>
            <a:off x="6035040" y="320040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Routes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731520" y="3840480"/>
            <a:ext cx="2286000" cy="1051560"/>
          </a:xfrm>
          <a:prstGeom prst="rect">
            <a:avLst/>
          </a:prstGeom>
          <a:solidFill>
            <a:srgbClr val="122B5C"/>
          </a:solidFill>
          <a:ln/>
          <a:effectLst>
            <a:outerShdw sx="100000" sy="100000" kx="0" ky="0" algn="bl" rotWithShape="0" blurRad="50800" dist="12700" dir="8100000">
              <a:srgbClr val="000000">
                <a:alpha val="10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731520" y="3931920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22D3E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101</a:t>
            </a:r>
            <a:endParaRPr lang="en-US" sz="3600" dirty="0"/>
          </a:p>
        </p:txBody>
      </p:sp>
      <p:sp>
        <p:nvSpPr>
          <p:cNvPr id="24" name="Text 22"/>
          <p:cNvSpPr/>
          <p:nvPr/>
        </p:nvSpPr>
        <p:spPr>
          <a:xfrm>
            <a:off x="731520" y="448056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Migrations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3383280" y="3840480"/>
            <a:ext cx="2286000" cy="1051560"/>
          </a:xfrm>
          <a:prstGeom prst="rect">
            <a:avLst/>
          </a:prstGeom>
          <a:solidFill>
            <a:srgbClr val="122B5C"/>
          </a:solidFill>
          <a:ln/>
          <a:effectLst>
            <a:outerShdw sx="100000" sy="100000" kx="0" ky="0" algn="bl" rotWithShape="0" blurRad="50800" dist="12700" dir="8100000">
              <a:srgbClr val="000000">
                <a:alpha val="10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3383280" y="3931920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22D3E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8</a:t>
            </a:r>
            <a:endParaRPr lang="en-US" sz="3600" dirty="0"/>
          </a:p>
        </p:txBody>
      </p:sp>
      <p:sp>
        <p:nvSpPr>
          <p:cNvPr id="27" name="Text 25"/>
          <p:cNvSpPr/>
          <p:nvPr/>
        </p:nvSpPr>
        <p:spPr>
          <a:xfrm>
            <a:off x="3383280" y="448056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Agents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6035040" y="3840480"/>
            <a:ext cx="2286000" cy="1051560"/>
          </a:xfrm>
          <a:prstGeom prst="rect">
            <a:avLst/>
          </a:prstGeom>
          <a:solidFill>
            <a:srgbClr val="122B5C"/>
          </a:solidFill>
          <a:ln/>
          <a:effectLst>
            <a:outerShdw sx="100000" sy="100000" kx="0" ky="0" algn="bl" rotWithShape="0" blurRad="50800" dist="12700" dir="8100000">
              <a:srgbClr val="000000">
                <a:alpha val="10000"/>
              </a:srgbClr>
            </a:outerShdw>
          </a:effectLst>
        </p:spPr>
      </p:sp>
      <p:sp>
        <p:nvSpPr>
          <p:cNvPr id="29" name="Text 27"/>
          <p:cNvSpPr/>
          <p:nvPr/>
        </p:nvSpPr>
        <p:spPr>
          <a:xfrm>
            <a:off x="6035040" y="3931920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22D3E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3600" dirty="0"/>
          </a:p>
        </p:txBody>
      </p:sp>
      <p:sp>
        <p:nvSpPr>
          <p:cNvPr id="30" name="Text 28"/>
          <p:cNvSpPr/>
          <p:nvPr/>
        </p:nvSpPr>
        <p:spPr>
          <a:xfrm>
            <a:off x="6035040" y="448056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Roles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B1D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1005840"/>
            <a:ext cx="9144000" cy="0"/>
          </a:xfrm>
          <a:prstGeom prst="line">
            <a:avLst/>
          </a:prstGeom>
          <a:noFill/>
          <a:ln w="6350">
            <a:solidFill>
              <a:srgbClr val="122B5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2011680"/>
            <a:ext cx="9144000" cy="0"/>
          </a:xfrm>
          <a:prstGeom prst="line">
            <a:avLst/>
          </a:prstGeom>
          <a:noFill/>
          <a:ln w="6350">
            <a:solidFill>
              <a:srgbClr val="122B5C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3017520"/>
            <a:ext cx="9144000" cy="0"/>
          </a:xfrm>
          <a:prstGeom prst="line">
            <a:avLst/>
          </a:prstGeom>
          <a:noFill/>
          <a:ln w="6350">
            <a:solidFill>
              <a:srgbClr val="122B5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0" y="4023360"/>
            <a:ext cx="9144000" cy="0"/>
          </a:xfrm>
          <a:prstGeom prst="line">
            <a:avLst/>
          </a:prstGeom>
          <a:noFill/>
          <a:ln w="6350">
            <a:solidFill>
              <a:srgbClr val="122B5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31520" y="1371600"/>
            <a:ext cx="7680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ขอบคุณครับ</a:t>
            </a:r>
            <a:endParaRPr lang="en-US" sz="4800" dirty="0"/>
          </a:p>
        </p:txBody>
      </p:sp>
      <p:sp>
        <p:nvSpPr>
          <p:cNvPr id="7" name="Text 5"/>
          <p:cNvSpPr/>
          <p:nvPr/>
        </p:nvSpPr>
        <p:spPr>
          <a:xfrm>
            <a:off x="731520" y="2286000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CSLogbook — Student Activity Management System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3886200" y="2926080"/>
            <a:ext cx="1371600" cy="36576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9" name="Text 7"/>
          <p:cNvSpPr/>
          <p:nvPr/>
        </p:nvSpPr>
        <p:spPr>
          <a:xfrm>
            <a:off x="731520" y="3200400"/>
            <a:ext cx="7680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cslogbook.me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0" y="4873752"/>
            <a:ext cx="9144000" cy="274320"/>
          </a:xfrm>
          <a:prstGeom prst="rect">
            <a:avLst/>
          </a:prstGeom>
          <a:solidFill>
            <a:srgbClr val="122B5C"/>
          </a:solidFill>
          <a:ln/>
        </p:spPr>
      </p:sp>
      <p:sp>
        <p:nvSpPr>
          <p:cNvPr id="11" name="Text 9"/>
          <p:cNvSpPr/>
          <p:nvPr/>
        </p:nvSpPr>
        <p:spPr>
          <a:xfrm>
            <a:off x="731520" y="4873752"/>
            <a:ext cx="7680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 &amp; IT Department  |  KMUTNB  |  March 2026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CSLogbook — System Overview &amp; Architecture</dc:title>
  <dc:subject>PptxGenJS Presentation</dc:subject>
  <dc:creator>CSLogbook Team</dc:creator>
  <cp:lastModifiedBy>CSLogbook Team</cp:lastModifiedBy>
  <cp:revision>1</cp:revision>
  <dcterms:created xsi:type="dcterms:W3CDTF">2026-03-27T09:30:25Z</dcterms:created>
  <dcterms:modified xsi:type="dcterms:W3CDTF">2026-03-27T09:30:25Z</dcterms:modified>
</cp:coreProperties>
</file>